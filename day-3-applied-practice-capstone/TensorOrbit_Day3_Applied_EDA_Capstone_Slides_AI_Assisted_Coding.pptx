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8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MY" sz="1800" b="0" i="0" u="none" strike="noStrike">
                <a:solidFill>
                  <a:srgbClr val="000000"/>
                </a:solidFill>
                <a:latin typeface="Arial"/>
              </a:rPr>
              <a:t>Total Sales by Category</a:t>
            </a:r>
          </a:p>
        </c:rich>
      </c:tx>
      <c:overlay val="0"/>
    </c:title>
    <c:autoTitleDeleted val="0"/>
    <c:plotArea>
      <c:layout/>
      <c:barChart>
        <c:barDir val="col"/>
        <c:grouping val="clustered"/>
        <c:varyColors val="0"/>
        <c:ser>
          <c:idx val="0"/>
          <c:order val="0"/>
          <c:tx>
            <c:strRef>
              <c:f>Sheet1!$B$1</c:f>
              <c:strCache>
                <c:ptCount val="1"/>
                <c:pt idx="0">
                  <c:v>Sales</c:v>
                </c:pt>
              </c:strCache>
            </c:strRef>
          </c:tx>
          <c:spPr>
            <a:solidFill>
              <a:srgbClr val="C0504D"/>
            </a:solidFill>
            <a:effectLst/>
          </c:spPr>
          <c:invertIfNegative val="0"/>
          <c:cat>
            <c:strRef>
              <c:f>Sheet1!$A$2:$A$4</c:f>
              <c:strCache>
                <c:ptCount val="3"/>
                <c:pt idx="0">
                  <c:v>Tech</c:v>
                </c:pt>
                <c:pt idx="1">
                  <c:v>Furniture</c:v>
                </c:pt>
                <c:pt idx="2">
                  <c:v>Office</c:v>
                </c:pt>
              </c:strCache>
            </c:strRef>
          </c:cat>
          <c:val>
            <c:numRef>
              <c:f>Sheet1!$B$2:$B$4</c:f>
              <c:numCache>
                <c:formatCode>General</c:formatCode>
                <c:ptCount val="3"/>
                <c:pt idx="0">
                  <c:v>174120</c:v>
                </c:pt>
                <c:pt idx="1">
                  <c:v>103732</c:v>
                </c:pt>
                <c:pt idx="2">
                  <c:v>5731</c:v>
                </c:pt>
              </c:numCache>
            </c:numRef>
          </c:val>
          <c:extLst>
            <c:ext xmlns:c16="http://schemas.microsoft.com/office/drawing/2014/chart" uri="{C3380CC4-5D6E-409C-BE32-E72D297353CC}">
              <c16:uniqueId val="{00000000-8641-4DE2-891B-B796D76FE43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majorUnit val="500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812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926080" cy="228600"/>
          </a:xfrm>
          <a:prstGeom prst="rect">
            <a:avLst/>
          </a:prstGeom>
          <a:noFill/>
          <a:ln/>
        </p:spPr>
        <p:txBody>
          <a:bodyPr wrap="square" lIns="0" tIns="0" rIns="0" bIns="0" rtlCol="0" anchor="ctr"/>
          <a:lstStyle/>
          <a:p>
            <a:pPr marL="0" indent="0">
              <a:buNone/>
            </a:pPr>
            <a:r>
              <a:rPr lang="en-US" sz="1200" b="1" dirty="0">
                <a:solidFill>
                  <a:srgbClr val="8B0E1A"/>
                </a:solidFill>
              </a:rPr>
              <a:t>TENSORORBIT</a:t>
            </a:r>
            <a:endParaRPr lang="en-US" sz="1200" dirty="0"/>
          </a:p>
        </p:txBody>
      </p:sp>
      <p:sp>
        <p:nvSpPr>
          <p:cNvPr id="3" name="Text 1"/>
          <p:cNvSpPr/>
          <p:nvPr/>
        </p:nvSpPr>
        <p:spPr>
          <a:xfrm>
            <a:off x="640080" y="1325880"/>
            <a:ext cx="8138160" cy="1143000"/>
          </a:xfrm>
          <a:prstGeom prst="rect">
            <a:avLst/>
          </a:prstGeom>
          <a:noFill/>
          <a:ln/>
        </p:spPr>
        <p:txBody>
          <a:bodyPr wrap="square" lIns="0" tIns="0" rIns="0" bIns="0" rtlCol="0" anchor="ctr"/>
          <a:lstStyle/>
          <a:p>
            <a:pPr marL="0" indent="0">
              <a:buNone/>
            </a:pPr>
            <a:r>
              <a:rPr lang="en-US" sz="3600" b="1" dirty="0">
                <a:solidFill>
                  <a:srgbClr val="151515"/>
                </a:solidFill>
              </a:rPr>
              <a:t>Day 3 — Applied EDA</a:t>
            </a:r>
            <a:endParaRPr lang="en-US" sz="3600" dirty="0"/>
          </a:p>
          <a:p>
            <a:pPr marL="0" indent="0">
              <a:buNone/>
            </a:pPr>
            <a:r>
              <a:rPr lang="en-US" sz="3600" b="1" dirty="0">
                <a:solidFill>
                  <a:srgbClr val="151515"/>
                </a:solidFill>
              </a:rPr>
              <a:t>&amp; Capstone Kickoff</a:t>
            </a:r>
            <a:endParaRPr lang="en-US" sz="3600" dirty="0"/>
          </a:p>
        </p:txBody>
      </p:sp>
      <p:sp>
        <p:nvSpPr>
          <p:cNvPr id="4" name="Text 2"/>
          <p:cNvSpPr/>
          <p:nvPr/>
        </p:nvSpPr>
        <p:spPr>
          <a:xfrm>
            <a:off x="685800" y="2724912"/>
            <a:ext cx="7589520" cy="320040"/>
          </a:xfrm>
          <a:prstGeom prst="rect">
            <a:avLst/>
          </a:prstGeom>
          <a:noFill/>
          <a:ln/>
        </p:spPr>
        <p:txBody>
          <a:bodyPr wrap="square" lIns="0" tIns="0" rIns="0" bIns="0" rtlCol="0" anchor="ctr"/>
          <a:lstStyle/>
          <a:p>
            <a:pPr marL="0" indent="0">
              <a:buNone/>
            </a:pPr>
            <a:r>
              <a:rPr lang="en-US" sz="1500" dirty="0">
                <a:solidFill>
                  <a:srgbClr val="555555"/>
                </a:solidFill>
              </a:rPr>
              <a:t>Business dataset walkthrough  •  Pandas + NumPy + Matplotlib</a:t>
            </a:r>
            <a:endParaRPr lang="en-US" sz="1500" dirty="0"/>
          </a:p>
        </p:txBody>
      </p:sp>
      <p:sp>
        <p:nvSpPr>
          <p:cNvPr id="5" name="Text 3"/>
          <p:cNvSpPr/>
          <p:nvPr/>
        </p:nvSpPr>
        <p:spPr>
          <a:xfrm>
            <a:off x="685800" y="4160520"/>
            <a:ext cx="10789920" cy="59436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Load   →   Clean   →   Explore   →   Analyse   →   Visualise   →   Recommend</a:t>
            </a:r>
            <a:endParaRPr lang="en-US" sz="1600" dirty="0"/>
          </a:p>
        </p:txBody>
      </p:sp>
      <p:sp>
        <p:nvSpPr>
          <p:cNvPr id="6" name="Text 4"/>
          <p:cNvSpPr/>
          <p:nvPr/>
        </p:nvSpPr>
        <p:spPr>
          <a:xfrm>
            <a:off x="8183880" y="5806440"/>
            <a:ext cx="3291840" cy="502920"/>
          </a:xfrm>
          <a:prstGeom prst="rect">
            <a:avLst/>
          </a:prstGeom>
          <a:noFill/>
          <a:ln/>
        </p:spPr>
        <p:txBody>
          <a:bodyPr wrap="square" lIns="0" tIns="0" rIns="0" bIns="0" rtlCol="0" anchor="ctr"/>
          <a:lstStyle/>
          <a:p>
            <a:pPr marL="0" indent="0" algn="r">
              <a:buNone/>
            </a:pPr>
            <a:r>
              <a:rPr lang="en-US" sz="1200" dirty="0">
                <a:solidFill>
                  <a:srgbClr val="555555"/>
                </a:solidFill>
              </a:rPr>
              <a:t>Instructor: Chit Ko Ko</a:t>
            </a:r>
            <a:endParaRPr lang="en-US" sz="1200" dirty="0"/>
          </a:p>
          <a:p>
            <a:pPr marL="0" indent="0" algn="r">
              <a:buNone/>
            </a:pPr>
            <a:r>
              <a:rPr lang="en-US" sz="1200" dirty="0">
                <a:solidFill>
                  <a:srgbClr val="555555"/>
                </a:solidFill>
              </a:rPr>
              <a:t>Venue: SCI Lab</a:t>
            </a:r>
            <a:endParaRPr lang="en-US" sz="1200" dirty="0"/>
          </a:p>
          <a:p>
            <a:pPr marL="0" indent="0" algn="r">
              <a:buNone/>
            </a:pPr>
            <a:r>
              <a:rPr lang="en-US" sz="1200" dirty="0">
                <a:solidFill>
                  <a:srgbClr val="555555"/>
                </a:solidFill>
              </a:rPr>
              <a:t>Time: 5:30 PM</a:t>
            </a:r>
            <a:endParaRPr lang="en-US" sz="1200" dirty="0"/>
          </a:p>
        </p:txBody>
      </p:sp>
      <p:sp>
        <p:nvSpPr>
          <p:cNvPr id="7" name="Shape 5"/>
          <p:cNvSpPr/>
          <p:nvPr/>
        </p:nvSpPr>
        <p:spPr>
          <a:xfrm>
            <a:off x="0" y="6537960"/>
            <a:ext cx="12191695" cy="320040"/>
          </a:xfrm>
          <a:prstGeom prst="rect">
            <a:avLst/>
          </a:prstGeom>
          <a:solidFill>
            <a:srgbClr val="8B0E1A"/>
          </a:solidFill>
          <a:ln w="12700">
            <a:solidFill>
              <a:srgbClr val="8B0E1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Session Flow — 2 Hours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this timing to protect the 40-minute team practice.</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10789920" cy="214884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400" dirty="0">
                <a:solidFill>
                  <a:srgbClr val="151515"/>
                </a:solidFill>
                <a:latin typeface="Cascadia Mono" pitchFamily="34" charset="0"/>
                <a:ea typeface="Cascadia Mono" pitchFamily="34" charset="-122"/>
                <a:cs typeface="Cascadia Mono" pitchFamily="34" charset="-120"/>
              </a:rPr>
              <a:t>Time    Activity              Purpose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 ───────────────────── ──────────────────────────────────────────────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15 min  Recap                 Connect Day 1 Pandas + Day 2 NumPy/Matplotlib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45 min  Guided walkthrough    Run one complete business EDA workflow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10 min  Capstone brief        Explain task, deliverable, and teams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40 min  Independent practice  Teams analyse their own dataset                </a:t>
            </a:r>
            <a:endParaRPr lang="en-US" sz="1400" dirty="0"/>
          </a:p>
          <a:p>
            <a:pPr marL="0" indent="0">
              <a:buNone/>
            </a:pPr>
            <a:r>
              <a:rPr lang="en-US" sz="1400" dirty="0">
                <a:solidFill>
                  <a:srgbClr val="151515"/>
                </a:solidFill>
                <a:latin typeface="Cascadia Mono" pitchFamily="34" charset="0"/>
                <a:ea typeface="Cascadia Mono" pitchFamily="34" charset="-122"/>
                <a:cs typeface="Cascadia Mono" pitchFamily="34" charset="-120"/>
              </a:rPr>
              <a:t>10 min  Wrap-up               Progress check + preview Day 4                 </a:t>
            </a:r>
            <a:endParaRPr lang="en-US" sz="1400" dirty="0"/>
          </a:p>
        </p:txBody>
      </p:sp>
      <p:sp>
        <p:nvSpPr>
          <p:cNvPr id="7" name="Shape 5"/>
          <p:cNvSpPr/>
          <p:nvPr/>
        </p:nvSpPr>
        <p:spPr>
          <a:xfrm>
            <a:off x="868680" y="5806440"/>
            <a:ext cx="73152" cy="530352"/>
          </a:xfrm>
          <a:prstGeom prst="rect">
            <a:avLst/>
          </a:prstGeom>
          <a:solidFill>
            <a:srgbClr val="8B0E1A"/>
          </a:solidFill>
          <a:ln w="12700">
            <a:solidFill>
              <a:srgbClr val="8B0E1A"/>
            </a:solidFill>
            <a:prstDash val="solid"/>
          </a:ln>
        </p:spPr>
      </p:sp>
      <p:sp>
        <p:nvSpPr>
          <p:cNvPr id="8" name="Text 6"/>
          <p:cNvSpPr/>
          <p:nvPr/>
        </p:nvSpPr>
        <p:spPr>
          <a:xfrm>
            <a:off x="987552" y="5806440"/>
            <a:ext cx="10305288" cy="530352"/>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Instructor reminder</a:t>
            </a:r>
            <a:endParaRPr lang="en-US" sz="1220" dirty="0"/>
          </a:p>
          <a:p>
            <a:pPr marL="0" indent="0">
              <a:buNone/>
            </a:pPr>
            <a:r>
              <a:rPr lang="en-US" sz="1220" dirty="0">
                <a:solidFill>
                  <a:srgbClr val="151515"/>
                </a:solidFill>
              </a:rPr>
              <a:t>Do not let the walkthrough take the practice time. Students learn most when they apply the workflow themselves.</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Learning Outcomes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By the end of Day 3, students should be ready to complete the capstone.</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914400" y="1417320"/>
            <a:ext cx="6400800" cy="3566160"/>
          </a:xfrm>
          <a:prstGeom prst="rect">
            <a:avLst/>
          </a:prstGeom>
          <a:noFill/>
          <a:ln/>
        </p:spPr>
        <p:txBody>
          <a:bodyPr wrap="square" lIns="762" tIns="762" rIns="762" bIns="762" rtlCol="0" anchor="ctr">
            <a:normAutofit/>
          </a:bodyPr>
          <a:lstStyle/>
          <a:p>
            <a:r>
              <a:rPr lang="en-US" sz="1800" dirty="0">
                <a:solidFill>
                  <a:srgbClr val="151515"/>
                </a:solidFill>
              </a:rPr>
              <a:t>Use Pandas, NumPy, and Matplotlib together in one EDA workflow.</a:t>
            </a:r>
            <a:endParaRPr lang="en-US" sz="1800" dirty="0"/>
          </a:p>
          <a:p>
            <a:r>
              <a:rPr lang="en-US" sz="1800" dirty="0">
                <a:solidFill>
                  <a:srgbClr val="151515"/>
                </a:solidFill>
              </a:rPr>
              <a:t>Clean a business dataset by checking missing values and duplicates.</a:t>
            </a:r>
            <a:endParaRPr lang="en-US" sz="1800" dirty="0"/>
          </a:p>
          <a:p>
            <a:r>
              <a:rPr lang="en-US" sz="1800" dirty="0">
                <a:solidFill>
                  <a:srgbClr val="151515"/>
                </a:solidFill>
              </a:rPr>
              <a:t>Ask useful business questions and answer them with code.</a:t>
            </a:r>
            <a:endParaRPr lang="en-US" sz="1800" dirty="0"/>
          </a:p>
          <a:p>
            <a:r>
              <a:rPr lang="en-US" sz="1800" dirty="0">
                <a:solidFill>
                  <a:srgbClr val="151515"/>
                </a:solidFill>
              </a:rPr>
              <a:t>Convert outputs and charts into findings and recommendations.</a:t>
            </a:r>
            <a:endParaRPr lang="en-US" sz="1800" dirty="0"/>
          </a:p>
          <a:p>
            <a:r>
              <a:rPr lang="en-US" sz="1800" dirty="0">
                <a:solidFill>
                  <a:srgbClr val="151515"/>
                </a:solidFill>
              </a:rPr>
              <a:t>Prepare for a short Day 4 capstone presentation.</a:t>
            </a:r>
            <a:endParaRPr lang="en-US" sz="1800" dirty="0"/>
          </a:p>
        </p:txBody>
      </p:sp>
      <p:sp>
        <p:nvSpPr>
          <p:cNvPr id="7" name="Text 5"/>
          <p:cNvSpPr/>
          <p:nvPr/>
        </p:nvSpPr>
        <p:spPr>
          <a:xfrm>
            <a:off x="914400" y="5303520"/>
            <a:ext cx="10332720" cy="658368"/>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Code   →   Output   →   Pattern   →   Finding   →   Recommendation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Recap: The Toolkit They Already Have</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Frame Day 3 as applying the tools they learned earlier.</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Shape 4"/>
          <p:cNvSpPr/>
          <p:nvPr/>
        </p:nvSpPr>
        <p:spPr>
          <a:xfrm>
            <a:off x="868680" y="1325880"/>
            <a:ext cx="73152" cy="3017520"/>
          </a:xfrm>
          <a:prstGeom prst="rect">
            <a:avLst/>
          </a:prstGeom>
          <a:solidFill>
            <a:srgbClr val="8B0E1A"/>
          </a:solidFill>
          <a:ln w="12700">
            <a:solidFill>
              <a:srgbClr val="8B0E1A"/>
            </a:solidFill>
            <a:prstDash val="solid"/>
          </a:ln>
        </p:spPr>
      </p:sp>
      <p:sp>
        <p:nvSpPr>
          <p:cNvPr id="7" name="Text 5"/>
          <p:cNvSpPr/>
          <p:nvPr/>
        </p:nvSpPr>
        <p:spPr>
          <a:xfrm>
            <a:off x="987552" y="1325880"/>
            <a:ext cx="3172968" cy="30175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Day 1 — Pandas</a:t>
            </a:r>
            <a:endParaRPr lang="en-US" sz="1220" dirty="0"/>
          </a:p>
          <a:p>
            <a:pPr marL="0" indent="0">
              <a:buNone/>
            </a:pPr>
            <a:r>
              <a:rPr lang="en-US" sz="1220" dirty="0">
                <a:solidFill>
                  <a:srgbClr val="151515"/>
                </a:solidFill>
              </a:rPr>
              <a:t>read_csv()</a:t>
            </a:r>
            <a:endParaRPr lang="en-US" sz="1220" dirty="0"/>
          </a:p>
          <a:p>
            <a:pPr marL="0" indent="0">
              <a:buNone/>
            </a:pPr>
            <a:r>
              <a:rPr lang="en-US" sz="1220" dirty="0">
                <a:solidFill>
                  <a:srgbClr val="151515"/>
                </a:solidFill>
              </a:rPr>
              <a:t>head(), shape, info(), describe()</a:t>
            </a:r>
            <a:endParaRPr lang="en-US" sz="1220" dirty="0"/>
          </a:p>
          <a:p>
            <a:pPr marL="0" indent="0">
              <a:buNone/>
            </a:pPr>
            <a:r>
              <a:rPr lang="en-US" sz="1220" dirty="0">
                <a:solidFill>
                  <a:srgbClr val="151515"/>
                </a:solidFill>
              </a:rPr>
              <a:t>filtering, sorting, groupby()</a:t>
            </a:r>
            <a:endParaRPr lang="en-US" sz="1220" dirty="0"/>
          </a:p>
          <a:p>
            <a:pPr marL="0" indent="0">
              <a:buNone/>
            </a:pPr>
            <a:r>
              <a:rPr lang="en-US" sz="1220" dirty="0">
                <a:solidFill>
                  <a:srgbClr val="151515"/>
                </a:solidFill>
              </a:rPr>
              <a:t>missing values + duplicates</a:t>
            </a:r>
            <a:endParaRPr lang="en-US" sz="1220" dirty="0"/>
          </a:p>
        </p:txBody>
      </p:sp>
      <p:sp>
        <p:nvSpPr>
          <p:cNvPr id="8" name="Shape 6"/>
          <p:cNvSpPr/>
          <p:nvPr/>
        </p:nvSpPr>
        <p:spPr>
          <a:xfrm>
            <a:off x="4434840" y="1325880"/>
            <a:ext cx="73152" cy="3017520"/>
          </a:xfrm>
          <a:prstGeom prst="rect">
            <a:avLst/>
          </a:prstGeom>
          <a:solidFill>
            <a:srgbClr val="1F4E78"/>
          </a:solidFill>
          <a:ln w="12700">
            <a:solidFill>
              <a:srgbClr val="1F4E78"/>
            </a:solidFill>
            <a:prstDash val="solid"/>
          </a:ln>
        </p:spPr>
      </p:sp>
      <p:sp>
        <p:nvSpPr>
          <p:cNvPr id="9" name="Text 7"/>
          <p:cNvSpPr/>
          <p:nvPr/>
        </p:nvSpPr>
        <p:spPr>
          <a:xfrm>
            <a:off x="4553712" y="1325880"/>
            <a:ext cx="2852928" cy="30175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Day 2 — NumPy</a:t>
            </a:r>
            <a:endParaRPr lang="en-US" sz="1220" dirty="0"/>
          </a:p>
          <a:p>
            <a:pPr marL="0" indent="0">
              <a:buNone/>
            </a:pPr>
            <a:r>
              <a:rPr lang="en-US" sz="1220" dirty="0">
                <a:solidFill>
                  <a:srgbClr val="151515"/>
                </a:solidFill>
              </a:rPr>
              <a:t>mean(), median(), std()</a:t>
            </a:r>
            <a:endParaRPr lang="en-US" sz="1220" dirty="0"/>
          </a:p>
          <a:p>
            <a:pPr marL="0" indent="0">
              <a:buNone/>
            </a:pPr>
            <a:r>
              <a:rPr lang="en-US" sz="1220" dirty="0">
                <a:solidFill>
                  <a:srgbClr val="151515"/>
                </a:solidFill>
              </a:rPr>
              <a:t>percentile()</a:t>
            </a:r>
            <a:endParaRPr lang="en-US" sz="1220" dirty="0"/>
          </a:p>
          <a:p>
            <a:pPr marL="0" indent="0">
              <a:buNone/>
            </a:pPr>
            <a:r>
              <a:rPr lang="en-US" sz="1220" dirty="0">
                <a:solidFill>
                  <a:srgbClr val="151515"/>
                </a:solidFill>
              </a:rPr>
              <a:t>IQR / outlier idea</a:t>
            </a:r>
            <a:endParaRPr lang="en-US" sz="1220" dirty="0"/>
          </a:p>
          <a:p>
            <a:pPr marL="0" indent="0">
              <a:buNone/>
            </a:pPr>
            <a:r>
              <a:rPr lang="en-US" sz="1220" dirty="0">
                <a:solidFill>
                  <a:srgbClr val="151515"/>
                </a:solidFill>
              </a:rPr>
              <a:t>correlation idea</a:t>
            </a:r>
            <a:endParaRPr lang="en-US" sz="1220" dirty="0"/>
          </a:p>
        </p:txBody>
      </p:sp>
      <p:sp>
        <p:nvSpPr>
          <p:cNvPr id="10" name="Shape 8"/>
          <p:cNvSpPr/>
          <p:nvPr/>
        </p:nvSpPr>
        <p:spPr>
          <a:xfrm>
            <a:off x="7680960" y="1325880"/>
            <a:ext cx="73152" cy="3017520"/>
          </a:xfrm>
          <a:prstGeom prst="rect">
            <a:avLst/>
          </a:prstGeom>
          <a:solidFill>
            <a:srgbClr val="246B40"/>
          </a:solidFill>
          <a:ln w="12700">
            <a:solidFill>
              <a:srgbClr val="246B40"/>
            </a:solidFill>
            <a:prstDash val="solid"/>
          </a:ln>
        </p:spPr>
      </p:sp>
      <p:sp>
        <p:nvSpPr>
          <p:cNvPr id="11" name="Text 9"/>
          <p:cNvSpPr/>
          <p:nvPr/>
        </p:nvSpPr>
        <p:spPr>
          <a:xfrm>
            <a:off x="7799832" y="1325880"/>
            <a:ext cx="3035808" cy="30175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Day 2 — Matplotlib</a:t>
            </a:r>
            <a:endParaRPr lang="en-US" sz="1220" dirty="0"/>
          </a:p>
          <a:p>
            <a:pPr marL="0" indent="0">
              <a:buNone/>
            </a:pPr>
            <a:r>
              <a:rPr lang="en-US" sz="1220" dirty="0">
                <a:solidFill>
                  <a:srgbClr val="151515"/>
                </a:solidFill>
              </a:rPr>
              <a:t>bar chart</a:t>
            </a:r>
            <a:endParaRPr lang="en-US" sz="1220" dirty="0"/>
          </a:p>
          <a:p>
            <a:pPr marL="0" indent="0">
              <a:buNone/>
            </a:pPr>
            <a:r>
              <a:rPr lang="en-US" sz="1220" dirty="0">
                <a:solidFill>
                  <a:srgbClr val="151515"/>
                </a:solidFill>
              </a:rPr>
              <a:t>histogram</a:t>
            </a:r>
            <a:endParaRPr lang="en-US" sz="1220" dirty="0"/>
          </a:p>
          <a:p>
            <a:pPr marL="0" indent="0">
              <a:buNone/>
            </a:pPr>
            <a:r>
              <a:rPr lang="en-US" sz="1220" dirty="0">
                <a:solidFill>
                  <a:srgbClr val="151515"/>
                </a:solidFill>
              </a:rPr>
              <a:t>scatter plot</a:t>
            </a:r>
            <a:endParaRPr lang="en-US" sz="1220" dirty="0"/>
          </a:p>
          <a:p>
            <a:pPr marL="0" indent="0">
              <a:buNone/>
            </a:pPr>
            <a:r>
              <a:rPr lang="en-US" sz="1220" dirty="0">
                <a:solidFill>
                  <a:srgbClr val="151515"/>
                </a:solidFill>
              </a:rPr>
              <a:t>boxplot</a:t>
            </a:r>
            <a:endParaRPr lang="en-US" sz="1220" dirty="0"/>
          </a:p>
          <a:p>
            <a:pPr marL="0" indent="0">
              <a:buNone/>
            </a:pPr>
            <a:r>
              <a:rPr lang="en-US" sz="1220" dirty="0">
                <a:solidFill>
                  <a:srgbClr val="151515"/>
                </a:solidFill>
              </a:rPr>
              <a:t>titles + axis labels</a:t>
            </a:r>
            <a:endParaRPr lang="en-US" sz="1220" dirty="0"/>
          </a:p>
        </p:txBody>
      </p:sp>
      <p:sp>
        <p:nvSpPr>
          <p:cNvPr id="12" name="Shape 10"/>
          <p:cNvSpPr/>
          <p:nvPr/>
        </p:nvSpPr>
        <p:spPr>
          <a:xfrm>
            <a:off x="914400" y="4892040"/>
            <a:ext cx="73152" cy="777240"/>
          </a:xfrm>
          <a:prstGeom prst="rect">
            <a:avLst/>
          </a:prstGeom>
          <a:solidFill>
            <a:srgbClr val="A65A00"/>
          </a:solidFill>
          <a:ln w="12700">
            <a:solidFill>
              <a:srgbClr val="A65A00"/>
            </a:solidFill>
            <a:prstDash val="solid"/>
          </a:ln>
        </p:spPr>
      </p:sp>
      <p:sp>
        <p:nvSpPr>
          <p:cNvPr id="13" name="Text 11"/>
          <p:cNvSpPr/>
          <p:nvPr/>
        </p:nvSpPr>
        <p:spPr>
          <a:xfrm>
            <a:off x="1033272" y="4892040"/>
            <a:ext cx="1012240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“For the first two days, you learned individual tools. Today, we will put them together to answer business questions.”</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274320"/>
            <a:ext cx="111556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700" b="1">
                <a:solidFill>
                  <a:srgbClr val="151515"/>
                </a:solidFill>
                <a:latin typeface="Aptos Display"/>
              </a:rPr>
              <a:t>AI-Assisted Coding — Use AI as Your Helper</a:t>
            </a:r>
          </a:p>
        </p:txBody>
      </p:sp>
      <p:sp>
        <p:nvSpPr>
          <p:cNvPr id="3" name="Rectangle 2"/>
          <p:cNvSpPr/>
          <p:nvPr/>
        </p:nvSpPr>
        <p:spPr>
          <a:xfrm>
            <a:off x="502920" y="822960"/>
            <a:ext cx="960120" cy="50292"/>
          </a:xfrm>
          <a:prstGeom prst="rect">
            <a:avLst/>
          </a:prstGeom>
          <a:solidFill>
            <a:srgbClr val="8B0E1A"/>
          </a:solidFill>
          <a:ln w="12700">
            <a:solidFill>
              <a:srgbClr val="8B0E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32688"/>
            <a:ext cx="110642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150" b="0">
                <a:solidFill>
                  <a:srgbClr val="555555"/>
                </a:solidFill>
                <a:latin typeface="Aptos"/>
              </a:rPr>
              <a:t>Use AI to find commands, understand errors, and write simple Pandas / NumPy / Matplotlib code.</a:t>
            </a:r>
          </a:p>
        </p:txBody>
      </p:sp>
      <p:sp>
        <p:nvSpPr>
          <p:cNvPr id="5" name="Rectangle 4"/>
          <p:cNvSpPr/>
          <p:nvPr/>
        </p:nvSpPr>
        <p:spPr>
          <a:xfrm>
            <a:off x="8321040" y="6446520"/>
            <a:ext cx="33832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850" b="0">
                <a:solidFill>
                  <a:srgbClr val="777777"/>
                </a:solidFill>
                <a:latin typeface="Aptos"/>
              </a:rPr>
              <a:t>TensorOrbit EDA Bootcamp  •  Day 3</a:t>
            </a:r>
          </a:p>
        </p:txBody>
      </p:sp>
      <p:sp>
        <p:nvSpPr>
          <p:cNvPr id="6" name="Rectangle 5"/>
          <p:cNvSpPr/>
          <p:nvPr/>
        </p:nvSpPr>
        <p:spPr>
          <a:xfrm>
            <a:off x="868680" y="1325880"/>
            <a:ext cx="73152" cy="2529840"/>
          </a:xfrm>
          <a:prstGeom prst="rect">
            <a:avLst/>
          </a:prstGeom>
          <a:solidFill>
            <a:srgbClr val="8B0E1A"/>
          </a:solidFill>
          <a:ln w="12700">
            <a:solidFill>
              <a:srgbClr val="8B0E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87552" y="1325880"/>
            <a:ext cx="3054096" cy="252984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wrap="square" lIns="150000" tIns="130000" rIns="150000" bIns="100000" rtlCol="0" anchor="ctr"/>
          <a:lstStyle/>
          <a:p>
            <a:pPr algn="l">
              <a:spcAft>
                <a:spcPts val="800"/>
              </a:spcAft>
            </a:pPr>
            <a:r>
              <a:rPr sz="1700" b="1">
                <a:solidFill>
                  <a:srgbClr val="151515"/>
                </a:solidFill>
                <a:latin typeface="Aptos"/>
              </a:rPr>
              <a:t>When AI Can Help</a:t>
            </a:r>
          </a:p>
          <a:p>
            <a:pPr algn="l">
              <a:spcAft>
                <a:spcPts val="200"/>
              </a:spcAft>
            </a:pPr>
            <a:r>
              <a:rPr sz="1400">
                <a:solidFill>
                  <a:srgbClr val="333333"/>
                </a:solidFill>
                <a:latin typeface="Aptos"/>
              </a:rPr>
              <a:t>• You forgot a command</a:t>
            </a:r>
          </a:p>
          <a:p>
            <a:pPr algn="l">
              <a:spcAft>
                <a:spcPts val="200"/>
              </a:spcAft>
            </a:pPr>
            <a:r>
              <a:rPr sz="1400">
                <a:solidFill>
                  <a:srgbClr val="333333"/>
                </a:solidFill>
                <a:latin typeface="Aptos"/>
              </a:rPr>
              <a:t>• You need a chart</a:t>
            </a:r>
          </a:p>
          <a:p>
            <a:pPr algn="l">
              <a:spcAft>
                <a:spcPts val="200"/>
              </a:spcAft>
            </a:pPr>
            <a:r>
              <a:rPr sz="1400">
                <a:solidFill>
                  <a:srgbClr val="333333"/>
                </a:solidFill>
                <a:latin typeface="Aptos"/>
              </a:rPr>
              <a:t>• Your code gives an error</a:t>
            </a:r>
          </a:p>
          <a:p>
            <a:pPr algn="l">
              <a:spcAft>
                <a:spcPts val="200"/>
              </a:spcAft>
            </a:pPr>
            <a:r>
              <a:rPr sz="1400">
                <a:solidFill>
                  <a:srgbClr val="333333"/>
                </a:solidFill>
                <a:latin typeface="Aptos"/>
              </a:rPr>
              <a:t>• You want a simple explanation</a:t>
            </a:r>
          </a:p>
        </p:txBody>
      </p:sp>
      <p:sp>
        <p:nvSpPr>
          <p:cNvPr id="8" name="Rectangle 7"/>
          <p:cNvSpPr/>
          <p:nvPr/>
        </p:nvSpPr>
        <p:spPr>
          <a:xfrm>
            <a:off x="4434840" y="1325880"/>
            <a:ext cx="73152" cy="2529840"/>
          </a:xfrm>
          <a:prstGeom prst="rect">
            <a:avLst/>
          </a:prstGeom>
          <a:solidFill>
            <a:srgbClr val="1F4E78"/>
          </a:solidFill>
          <a:ln w="127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53712" y="1325880"/>
            <a:ext cx="3054096" cy="252984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wrap="square" lIns="150000" tIns="130000" rIns="150000" bIns="100000" rtlCol="0" anchor="ctr"/>
          <a:lstStyle/>
          <a:p>
            <a:pPr algn="l">
              <a:spcAft>
                <a:spcPts val="800"/>
              </a:spcAft>
            </a:pPr>
            <a:r>
              <a:rPr sz="1700" b="1">
                <a:solidFill>
                  <a:srgbClr val="151515"/>
                </a:solidFill>
                <a:latin typeface="Aptos"/>
              </a:rPr>
              <a:t>Good Prompt Formula</a:t>
            </a:r>
          </a:p>
          <a:p>
            <a:pPr algn="l">
              <a:spcAft>
                <a:spcPts val="200"/>
              </a:spcAft>
            </a:pPr>
            <a:r>
              <a:rPr sz="1400">
                <a:solidFill>
                  <a:srgbClr val="333333"/>
                </a:solidFill>
                <a:latin typeface="Aptos"/>
              </a:rPr>
              <a:t>1. Say your dataframe name</a:t>
            </a:r>
          </a:p>
          <a:p>
            <a:pPr algn="l">
              <a:spcAft>
                <a:spcPts val="200"/>
              </a:spcAft>
            </a:pPr>
            <a:r>
              <a:rPr sz="1400">
                <a:solidFill>
                  <a:srgbClr val="333333"/>
                </a:solidFill>
                <a:latin typeface="Aptos"/>
              </a:rPr>
              <a:t>2. Give the column names</a:t>
            </a:r>
          </a:p>
          <a:p>
            <a:pPr algn="l">
              <a:spcAft>
                <a:spcPts val="200"/>
              </a:spcAft>
            </a:pPr>
            <a:r>
              <a:rPr sz="1400">
                <a:solidFill>
                  <a:srgbClr val="333333"/>
                </a:solidFill>
                <a:latin typeface="Aptos"/>
              </a:rPr>
              <a:t>3. Say what you want</a:t>
            </a:r>
          </a:p>
          <a:p>
            <a:pPr algn="l">
              <a:spcAft>
                <a:spcPts val="200"/>
              </a:spcAft>
            </a:pPr>
            <a:r>
              <a:rPr sz="1400">
                <a:solidFill>
                  <a:srgbClr val="333333"/>
                </a:solidFill>
                <a:latin typeface="Aptos"/>
              </a:rPr>
              <a:t>4. Ask for simple beginner code</a:t>
            </a:r>
          </a:p>
        </p:txBody>
      </p:sp>
      <p:sp>
        <p:nvSpPr>
          <p:cNvPr id="10" name="Rectangle 9"/>
          <p:cNvSpPr/>
          <p:nvPr/>
        </p:nvSpPr>
        <p:spPr>
          <a:xfrm>
            <a:off x="7990000" y="1325880"/>
            <a:ext cx="73152" cy="2529840"/>
          </a:xfrm>
          <a:prstGeom prst="rect">
            <a:avLst/>
          </a:prstGeom>
          <a:solidFill>
            <a:srgbClr val="246B40"/>
          </a:solidFill>
          <a:ln w="12700">
            <a:solidFill>
              <a:srgbClr val="246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08872" y="1325880"/>
            <a:ext cx="3054096" cy="252984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wrap="square" lIns="150000" tIns="130000" rIns="150000" bIns="100000" rtlCol="0" anchor="ctr"/>
          <a:lstStyle/>
          <a:p>
            <a:pPr algn="l">
              <a:spcAft>
                <a:spcPts val="800"/>
              </a:spcAft>
            </a:pPr>
            <a:r>
              <a:rPr sz="1700" b="1">
                <a:solidFill>
                  <a:srgbClr val="151515"/>
                </a:solidFill>
                <a:latin typeface="Aptos"/>
              </a:rPr>
              <a:t>Important Rules</a:t>
            </a:r>
          </a:p>
          <a:p>
            <a:pPr algn="l">
              <a:spcAft>
                <a:spcPts val="200"/>
              </a:spcAft>
            </a:pPr>
            <a:r>
              <a:rPr sz="1400">
                <a:solidFill>
                  <a:srgbClr val="333333"/>
                </a:solidFill>
                <a:latin typeface="Aptos"/>
              </a:rPr>
              <a:t>• Do not copy blindly</a:t>
            </a:r>
          </a:p>
          <a:p>
            <a:pPr algn="l">
              <a:spcAft>
                <a:spcPts val="200"/>
              </a:spcAft>
            </a:pPr>
            <a:r>
              <a:rPr sz="1400">
                <a:solidFill>
                  <a:srgbClr val="333333"/>
                </a:solidFill>
                <a:latin typeface="Aptos"/>
              </a:rPr>
              <a:t>• Check exact column names</a:t>
            </a:r>
          </a:p>
          <a:p>
            <a:pPr algn="l">
              <a:spcAft>
                <a:spcPts val="200"/>
              </a:spcAft>
            </a:pPr>
            <a:r>
              <a:rPr sz="1400">
                <a:solidFill>
                  <a:srgbClr val="333333"/>
                </a:solidFill>
                <a:latin typeface="Aptos"/>
              </a:rPr>
              <a:t>• Run one step at a time</a:t>
            </a:r>
          </a:p>
          <a:p>
            <a:pPr algn="l">
              <a:spcAft>
                <a:spcPts val="200"/>
              </a:spcAft>
            </a:pPr>
            <a:r>
              <a:rPr sz="1400">
                <a:solidFill>
                  <a:srgbClr val="333333"/>
                </a:solidFill>
                <a:latin typeface="Aptos"/>
              </a:rPr>
              <a:t>• Verify the result makes sense</a:t>
            </a:r>
          </a:p>
        </p:txBody>
      </p:sp>
      <p:sp>
        <p:nvSpPr>
          <p:cNvPr id="12" name="Rectangle 11"/>
          <p:cNvSpPr/>
          <p:nvPr/>
        </p:nvSpPr>
        <p:spPr>
          <a:xfrm>
            <a:off x="914400" y="4160520"/>
            <a:ext cx="73152" cy="914400"/>
          </a:xfrm>
          <a:prstGeom prst="rect">
            <a:avLst/>
          </a:prstGeom>
          <a:solidFill>
            <a:srgbClr val="A65A00"/>
          </a:solidFill>
          <a:ln w="12700">
            <a:solidFill>
              <a:srgbClr val="A6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33272" y="4160520"/>
            <a:ext cx="10122408" cy="9144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lIns="150000" tIns="110000" rIns="150000" bIns="90000" rtlCol="0" anchor="ctr"/>
          <a:lstStyle/>
          <a:p>
            <a:pPr algn="l">
              <a:spcAft>
                <a:spcPts val="400"/>
              </a:spcAft>
            </a:pPr>
            <a:r>
              <a:rPr lang="en-US" sz="1500" b="1" dirty="0">
                <a:solidFill>
                  <a:srgbClr val="151515"/>
                </a:solidFill>
                <a:latin typeface="Aptos"/>
              </a:rPr>
              <a:t>Example P</a:t>
            </a:r>
            <a:r>
              <a:rPr sz="1500" b="1" dirty="0">
                <a:solidFill>
                  <a:srgbClr val="151515"/>
                </a:solidFill>
                <a:latin typeface="Aptos"/>
              </a:rPr>
              <a:t>rompt</a:t>
            </a:r>
          </a:p>
          <a:p>
            <a:pPr algn="l"/>
            <a:r>
              <a:rPr sz="1300" dirty="0">
                <a:solidFill>
                  <a:srgbClr val="333333"/>
                </a:solidFill>
                <a:latin typeface="Consolas"/>
              </a:rPr>
              <a:t>I have a Pandas </a:t>
            </a:r>
            <a:r>
              <a:rPr sz="1300" dirty="0" err="1">
                <a:solidFill>
                  <a:srgbClr val="333333"/>
                </a:solidFill>
                <a:latin typeface="Consolas"/>
              </a:rPr>
              <a:t>dataframe</a:t>
            </a:r>
            <a:r>
              <a:rPr sz="1300" dirty="0">
                <a:solidFill>
                  <a:srgbClr val="333333"/>
                </a:solidFill>
                <a:latin typeface="Consolas"/>
              </a:rPr>
              <a:t> called </a:t>
            </a:r>
            <a:r>
              <a:rPr sz="1300" dirty="0" err="1">
                <a:solidFill>
                  <a:srgbClr val="333333"/>
                </a:solidFill>
                <a:latin typeface="Consolas"/>
              </a:rPr>
              <a:t>df</a:t>
            </a:r>
            <a:r>
              <a:rPr sz="1300" dirty="0">
                <a:solidFill>
                  <a:srgbClr val="333333"/>
                </a:solidFill>
                <a:latin typeface="Consolas"/>
              </a:rPr>
              <a:t> with columns Region, Sales and Profit.
Give me simple Python code to find total profit by Region, sort highest to lowest,
and create a bar chart using Matplotlib.</a:t>
            </a:r>
          </a:p>
        </p:txBody>
      </p:sp>
      <p:sp>
        <p:nvSpPr>
          <p:cNvPr id="14" name="Rectangle 13"/>
          <p:cNvSpPr/>
          <p:nvPr/>
        </p:nvSpPr>
        <p:spPr>
          <a:xfrm>
            <a:off x="914400" y="5334000"/>
            <a:ext cx="73152" cy="520000"/>
          </a:xfrm>
          <a:prstGeom prst="rect">
            <a:avLst/>
          </a:prstGeom>
          <a:solidFill>
            <a:srgbClr val="8B0E1A"/>
          </a:solidFill>
          <a:ln w="12700">
            <a:solidFill>
              <a:srgbClr val="8B0E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33272" y="5334000"/>
            <a:ext cx="10122408" cy="52000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lIns="150000" tIns="80000" rIns="150000" bIns="80000" rtlCol="0" anchor="ctr"/>
          <a:lstStyle/>
          <a:p>
            <a:pPr algn="l"/>
            <a:r>
              <a:rPr sz="1150" dirty="0">
                <a:solidFill>
                  <a:srgbClr val="151515"/>
                </a:solidFill>
                <a:latin typeface="Aptos"/>
              </a:rPr>
              <a:t>“AI is not replacing your thinking. It helps you find the code faster, but you must still understand the question, check the column names, and explain the business meaning.”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Today’s Business Dataset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Retail sales dataset for a fictional company selling products across Malaysian regions.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822960" y="1325880"/>
            <a:ext cx="5669280" cy="2926080"/>
          </a:xfrm>
          <a:prstGeom prst="rect">
            <a:avLst/>
          </a:prstGeom>
          <a:noFill/>
          <a:ln/>
        </p:spPr>
        <p:txBody>
          <a:bodyPr wrap="square" lIns="762" tIns="762" rIns="762" bIns="762" rtlCol="0" anchor="ctr">
            <a:normAutofit/>
          </a:bodyPr>
          <a:lstStyle/>
          <a:p>
            <a:r>
              <a:rPr lang="en-US" sz="1550" dirty="0">
                <a:solidFill>
                  <a:srgbClr val="151515"/>
                </a:solidFill>
              </a:rPr>
              <a:t>Rows: 123 raw records, then 120 after removing exact duplicates.</a:t>
            </a:r>
            <a:endParaRPr lang="en-US" sz="1550" dirty="0"/>
          </a:p>
          <a:p>
            <a:r>
              <a:rPr lang="en-US" sz="1550" dirty="0">
                <a:solidFill>
                  <a:srgbClr val="151515"/>
                </a:solidFill>
              </a:rPr>
              <a:t>Columns: Order, date, region, product, customer type, quantity, price, discount, sales, cost, profit, payment method.</a:t>
            </a:r>
            <a:endParaRPr lang="en-US" sz="1550" dirty="0"/>
          </a:p>
          <a:p>
            <a:r>
              <a:rPr lang="en-US" sz="1550" dirty="0">
                <a:solidFill>
                  <a:srgbClr val="151515"/>
                </a:solidFill>
              </a:rPr>
              <a:t>Teaching issues: missing values, duplicate rows, and unusual high-quantity orders.</a:t>
            </a:r>
            <a:endParaRPr lang="en-US" sz="1550" dirty="0"/>
          </a:p>
          <a:p>
            <a:r>
              <a:rPr lang="en-US" sz="1550" dirty="0">
                <a:solidFill>
                  <a:srgbClr val="151515"/>
                </a:solidFill>
              </a:rPr>
              <a:t>Final goal: identify a useful business pattern and make a recommendation.</a:t>
            </a:r>
            <a:endParaRPr lang="en-US" sz="1550" dirty="0"/>
          </a:p>
        </p:txBody>
      </p:sp>
      <p:sp>
        <p:nvSpPr>
          <p:cNvPr id="7" name="Text 5"/>
          <p:cNvSpPr/>
          <p:nvPr/>
        </p:nvSpPr>
        <p:spPr>
          <a:xfrm>
            <a:off x="6720840" y="1417320"/>
            <a:ext cx="4663440" cy="237744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920" dirty="0">
                <a:solidFill>
                  <a:srgbClr val="151515"/>
                </a:solidFill>
                <a:latin typeface="Cascadia Mono" pitchFamily="34" charset="0"/>
                <a:ea typeface="Cascadia Mono" pitchFamily="34" charset="-122"/>
                <a:cs typeface="Cascadia Mono" pitchFamily="34" charset="-120"/>
              </a:rPr>
              <a:t>Order_ID  Region         Category         Product        Sales    Profit   </a:t>
            </a:r>
            <a:endParaRPr lang="en-US" sz="920" dirty="0"/>
          </a:p>
          <a:p>
            <a:pPr marL="0" indent="0">
              <a:buNone/>
            </a:pPr>
            <a:r>
              <a:rPr lang="en-US" sz="920" dirty="0">
                <a:solidFill>
                  <a:srgbClr val="151515"/>
                </a:solidFill>
                <a:latin typeface="Cascadia Mono" pitchFamily="34" charset="0"/>
                <a:ea typeface="Cascadia Mono" pitchFamily="34" charset="-122"/>
                <a:cs typeface="Cascadia Mono" pitchFamily="34" charset="-120"/>
              </a:rPr>
              <a:t>───────── ────────────── ──────────────── ────────────── ────────</a:t>
            </a:r>
            <a:endParaRPr lang="en-US" sz="920" dirty="0"/>
          </a:p>
          <a:p>
            <a:pPr marL="0" indent="0">
              <a:buNone/>
            </a:pPr>
            <a:r>
              <a:rPr lang="en-US" sz="920" dirty="0">
                <a:solidFill>
                  <a:srgbClr val="151515"/>
                </a:solidFill>
                <a:latin typeface="Cascadia Mono" pitchFamily="34" charset="0"/>
                <a:ea typeface="Cascadia Mono" pitchFamily="34" charset="-122"/>
                <a:cs typeface="Cascadia Mono" pitchFamily="34" charset="-120"/>
              </a:rPr>
              <a:t>ORD-1001  East Malaysia  Technology       Smartphone     1690.17  346.69   </a:t>
            </a:r>
            <a:endParaRPr lang="en-US" sz="920" dirty="0"/>
          </a:p>
          <a:p>
            <a:pPr marL="0" indent="0">
              <a:buNone/>
            </a:pPr>
            <a:r>
              <a:rPr lang="en-US" sz="920" dirty="0">
                <a:solidFill>
                  <a:srgbClr val="151515"/>
                </a:solidFill>
                <a:latin typeface="Cascadia Mono" pitchFamily="34" charset="0"/>
                <a:ea typeface="Cascadia Mono" pitchFamily="34" charset="-122"/>
                <a:cs typeface="Cascadia Mono" pitchFamily="34" charset="-120"/>
              </a:rPr>
              <a:t>ORD-1002  Central        Office Supplies  Notebook Pack  115.24   59.24    </a:t>
            </a:r>
            <a:endParaRPr lang="en-US" sz="920" dirty="0"/>
          </a:p>
          <a:p>
            <a:pPr marL="0" indent="0">
              <a:buNone/>
            </a:pPr>
            <a:r>
              <a:rPr lang="en-US" sz="920" dirty="0">
                <a:solidFill>
                  <a:srgbClr val="151515"/>
                </a:solidFill>
                <a:latin typeface="Cascadia Mono" pitchFamily="34" charset="0"/>
                <a:ea typeface="Cascadia Mono" pitchFamily="34" charset="-122"/>
                <a:cs typeface="Cascadia Mono" pitchFamily="34" charset="-120"/>
              </a:rPr>
              <a:t>ORD-1003  Central        Technology       Laptop         8037.94  1313.68  </a:t>
            </a:r>
            <a:endParaRPr lang="en-US" sz="920" dirty="0"/>
          </a:p>
          <a:p>
            <a:pPr marL="0" indent="0">
              <a:buNone/>
            </a:pPr>
            <a:r>
              <a:rPr lang="en-US" sz="920" dirty="0">
                <a:solidFill>
                  <a:srgbClr val="151515"/>
                </a:solidFill>
                <a:latin typeface="Cascadia Mono" pitchFamily="34" charset="0"/>
                <a:ea typeface="Cascadia Mono" pitchFamily="34" charset="-122"/>
                <a:cs typeface="Cascadia Mono" pitchFamily="34" charset="-120"/>
              </a:rPr>
              <a:t>ORD-1004  East Malaysia  Furniture        Study Desk     2613.36  777.33   </a:t>
            </a:r>
            <a:endParaRPr lang="en-US" sz="920" dirty="0"/>
          </a:p>
        </p:txBody>
      </p:sp>
      <p:sp>
        <p:nvSpPr>
          <p:cNvPr id="8" name="Text 6"/>
          <p:cNvSpPr/>
          <p:nvPr/>
        </p:nvSpPr>
        <p:spPr>
          <a:xfrm>
            <a:off x="914400" y="5349240"/>
            <a:ext cx="10241280" cy="59436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Question   →   Data   →   Analysis   →   Finding   →   Recommendation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The EDA Workflow</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Students should remember this sequence throughout the capstone.</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594360" y="1417320"/>
            <a:ext cx="10972800" cy="658368"/>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Load   →   Inspect   →   Clean   →   Explore   →   Analyse   →   Visualise   →   Recommend</a:t>
            </a:r>
            <a:endParaRPr lang="en-US" sz="1600" dirty="0"/>
          </a:p>
        </p:txBody>
      </p:sp>
      <p:sp>
        <p:nvSpPr>
          <p:cNvPr id="7" name="Shape 5"/>
          <p:cNvSpPr/>
          <p:nvPr/>
        </p:nvSpPr>
        <p:spPr>
          <a:xfrm>
            <a:off x="777240" y="2468880"/>
            <a:ext cx="73152" cy="1143000"/>
          </a:xfrm>
          <a:prstGeom prst="rect">
            <a:avLst/>
          </a:prstGeom>
          <a:solidFill>
            <a:srgbClr val="8B0E1A"/>
          </a:solidFill>
          <a:ln w="12700">
            <a:solidFill>
              <a:srgbClr val="8B0E1A"/>
            </a:solidFill>
            <a:prstDash val="solid"/>
          </a:ln>
        </p:spPr>
      </p:sp>
      <p:sp>
        <p:nvSpPr>
          <p:cNvPr id="8" name="Text 6"/>
          <p:cNvSpPr/>
          <p:nvPr/>
        </p:nvSpPr>
        <p:spPr>
          <a:xfrm>
            <a:off x="896112" y="2468880"/>
            <a:ext cx="504748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Business meaning</a:t>
            </a:r>
            <a:endParaRPr lang="en-US" sz="1220" dirty="0"/>
          </a:p>
          <a:p>
            <a:pPr marL="0" indent="0">
              <a:buNone/>
            </a:pPr>
            <a:r>
              <a:rPr lang="en-US" sz="1220" dirty="0">
                <a:solidFill>
                  <a:srgbClr val="151515"/>
                </a:solidFill>
              </a:rPr>
              <a:t>EDA is not only “making charts”. It is a process for understanding data before making a decision.</a:t>
            </a:r>
            <a:endParaRPr lang="en-US" sz="1220" dirty="0"/>
          </a:p>
        </p:txBody>
      </p:sp>
      <p:sp>
        <p:nvSpPr>
          <p:cNvPr id="9" name="Shape 7"/>
          <p:cNvSpPr/>
          <p:nvPr/>
        </p:nvSpPr>
        <p:spPr>
          <a:xfrm>
            <a:off x="6263640" y="2468880"/>
            <a:ext cx="73152" cy="1143000"/>
          </a:xfrm>
          <a:prstGeom prst="rect">
            <a:avLst/>
          </a:prstGeom>
          <a:solidFill>
            <a:srgbClr val="1F4E78"/>
          </a:solidFill>
          <a:ln w="12700">
            <a:solidFill>
              <a:srgbClr val="1F4E78"/>
            </a:solidFill>
            <a:prstDash val="solid"/>
          </a:ln>
        </p:spPr>
      </p:sp>
      <p:sp>
        <p:nvSpPr>
          <p:cNvPr id="10" name="Text 8"/>
          <p:cNvSpPr/>
          <p:nvPr/>
        </p:nvSpPr>
        <p:spPr>
          <a:xfrm>
            <a:off x="6382512" y="2468880"/>
            <a:ext cx="504748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t>Each step matters, understand first before running the code.</a:t>
            </a:r>
          </a:p>
        </p:txBody>
      </p:sp>
      <p:sp>
        <p:nvSpPr>
          <p:cNvPr id="11" name="Text 9"/>
          <p:cNvSpPr/>
          <p:nvPr/>
        </p:nvSpPr>
        <p:spPr>
          <a:xfrm>
            <a:off x="868680" y="4343400"/>
            <a:ext cx="2560320" cy="274320"/>
          </a:xfrm>
          <a:prstGeom prst="rect">
            <a:avLst/>
          </a:prstGeom>
          <a:noFill/>
          <a:ln/>
        </p:spPr>
        <p:txBody>
          <a:bodyPr wrap="square" lIns="0" tIns="0" rIns="0" bIns="0" rtlCol="0" anchor="ctr"/>
          <a:lstStyle/>
          <a:p>
            <a:pPr marL="0" indent="0">
              <a:buNone/>
            </a:pPr>
            <a:r>
              <a:rPr lang="en-US" sz="1500" b="1" dirty="0">
                <a:solidFill>
                  <a:srgbClr val="8B0E1A"/>
                </a:solidFill>
              </a:rPr>
              <a:t>Main pattern for today:</a:t>
            </a:r>
            <a:endParaRPr lang="en-US" sz="1500" dirty="0"/>
          </a:p>
        </p:txBody>
      </p:sp>
      <p:sp>
        <p:nvSpPr>
          <p:cNvPr id="12" name="Text 10"/>
          <p:cNvSpPr/>
          <p:nvPr/>
        </p:nvSpPr>
        <p:spPr>
          <a:xfrm>
            <a:off x="868680" y="4800600"/>
            <a:ext cx="10424160" cy="73152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Code   →   Output   →   Pattern   →   Finding   →   Recommendation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 — Import Libraries + Load CSV</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Copy, paste, and run this first in Google Colab.</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6446520" cy="425196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import pandas as pd</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import numpy as np</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import matplotlib.pyplot as plt</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Load the retail sales dataset</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 = pd.read_csv("TensorOrbit_Day3_Retail_Sales_RAW.csv")</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Display the first 5 rows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df.head()</a:t>
            </a:r>
            <a:endParaRPr lang="en-US" sz="1400" dirty="0"/>
          </a:p>
        </p:txBody>
      </p:sp>
      <p:sp>
        <p:nvSpPr>
          <p:cNvPr id="7" name="Shape 5"/>
          <p:cNvSpPr/>
          <p:nvPr/>
        </p:nvSpPr>
        <p:spPr>
          <a:xfrm>
            <a:off x="7452360" y="1417320"/>
            <a:ext cx="73152" cy="2423160"/>
          </a:xfrm>
          <a:prstGeom prst="rect">
            <a:avLst/>
          </a:prstGeom>
          <a:solidFill>
            <a:srgbClr val="8B0E1A"/>
          </a:solidFill>
          <a:ln w="12700">
            <a:solidFill>
              <a:srgbClr val="8B0E1A"/>
            </a:solidFill>
            <a:prstDash val="solid"/>
          </a:ln>
        </p:spPr>
      </p:sp>
      <p:sp>
        <p:nvSpPr>
          <p:cNvPr id="8" name="Text 6"/>
          <p:cNvSpPr/>
          <p:nvPr/>
        </p:nvSpPr>
        <p:spPr>
          <a:xfrm>
            <a:off x="7571232" y="1417320"/>
            <a:ext cx="3858768" cy="24231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pandas = table data</a:t>
            </a:r>
            <a:endParaRPr lang="en-US" sz="1220" dirty="0"/>
          </a:p>
          <a:p>
            <a:pPr marL="0" indent="0">
              <a:buNone/>
            </a:pPr>
            <a:r>
              <a:rPr lang="en-US" sz="1220" dirty="0">
                <a:solidFill>
                  <a:srgbClr val="151515"/>
                </a:solidFill>
              </a:rPr>
              <a:t>NumPy = numerical work</a:t>
            </a:r>
            <a:endParaRPr lang="en-US" sz="1220" dirty="0"/>
          </a:p>
          <a:p>
            <a:pPr marL="0" indent="0">
              <a:buNone/>
            </a:pPr>
            <a:r>
              <a:rPr lang="en-US" sz="1220" dirty="0">
                <a:solidFill>
                  <a:srgbClr val="151515"/>
                </a:solidFill>
              </a:rPr>
              <a:t>Matplotlib = charts</a:t>
            </a:r>
            <a:endParaRPr lang="en-US" sz="1220" dirty="0"/>
          </a:p>
          <a:p>
            <a:pPr marL="0" indent="0">
              <a:buNone/>
            </a:pPr>
            <a:r>
              <a:rPr lang="en-US" sz="1220" dirty="0">
                <a:solidFill>
                  <a:srgbClr val="151515"/>
                </a:solidFill>
              </a:rPr>
              <a:t>read_csv() = loads CSV file</a:t>
            </a:r>
            <a:endParaRPr lang="en-US" sz="1220" dirty="0"/>
          </a:p>
          <a:p>
            <a:pPr marL="0" indent="0">
              <a:buNone/>
            </a:pPr>
            <a:r>
              <a:rPr lang="en-US" sz="1220" dirty="0">
                <a:solidFill>
                  <a:srgbClr val="151515"/>
                </a:solidFill>
              </a:rPr>
              <a:t>head() = first 5 rows</a:t>
            </a:r>
            <a:endParaRPr lang="en-US" sz="1220" dirty="0"/>
          </a:p>
        </p:txBody>
      </p:sp>
      <p:sp>
        <p:nvSpPr>
          <p:cNvPr id="9" name="Shape 7"/>
          <p:cNvSpPr/>
          <p:nvPr/>
        </p:nvSpPr>
        <p:spPr>
          <a:xfrm>
            <a:off x="7452360" y="4160520"/>
            <a:ext cx="73152" cy="1143000"/>
          </a:xfrm>
          <a:prstGeom prst="rect">
            <a:avLst/>
          </a:prstGeom>
          <a:solidFill>
            <a:srgbClr val="A65A00"/>
          </a:solidFill>
          <a:ln w="12700">
            <a:solidFill>
              <a:srgbClr val="A65A00"/>
            </a:solidFill>
            <a:prstDash val="solid"/>
          </a:ln>
        </p:spPr>
      </p:sp>
      <p:sp>
        <p:nvSpPr>
          <p:cNvPr id="10" name="Text 8"/>
          <p:cNvSpPr/>
          <p:nvPr/>
        </p:nvSpPr>
        <p:spPr>
          <a:xfrm>
            <a:off x="7571232" y="4160520"/>
            <a:ext cx="385876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After running df.head(), ask: “What columns do you notice? Which columns look useful for business decisions?”</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2 — First Look at the Dataset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Before analysis, understand the size, columns, types, and summary.</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989320" cy="443484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 Number of rows and columns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df.shape</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Column names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df.columns</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Data types and non-null counts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df.info()</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Summary statistics for numeric columns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df.describe()</a:t>
            </a:r>
            <a:endParaRPr lang="en-US" sz="1400" dirty="0"/>
          </a:p>
        </p:txBody>
      </p:sp>
      <p:sp>
        <p:nvSpPr>
          <p:cNvPr id="7" name="Shape 5"/>
          <p:cNvSpPr/>
          <p:nvPr/>
        </p:nvSpPr>
        <p:spPr>
          <a:xfrm>
            <a:off x="6995160" y="1417320"/>
            <a:ext cx="73152" cy="2057400"/>
          </a:xfrm>
          <a:prstGeom prst="rect">
            <a:avLst/>
          </a:prstGeom>
          <a:solidFill>
            <a:srgbClr val="8B0E1A"/>
          </a:solidFill>
          <a:ln w="12700">
            <a:solidFill>
              <a:srgbClr val="8B0E1A"/>
            </a:solidFill>
            <a:prstDash val="solid"/>
          </a:ln>
        </p:spPr>
      </p:sp>
      <p:sp>
        <p:nvSpPr>
          <p:cNvPr id="8" name="Text 6"/>
          <p:cNvSpPr/>
          <p:nvPr/>
        </p:nvSpPr>
        <p:spPr>
          <a:xfrm>
            <a:off x="7114032" y="1417320"/>
            <a:ext cx="4315968" cy="2057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Explanation</a:t>
            </a:r>
            <a:endParaRPr lang="en-US" sz="1220" dirty="0"/>
          </a:p>
          <a:p>
            <a:pPr marL="0" indent="0">
              <a:buNone/>
            </a:pPr>
            <a:r>
              <a:rPr lang="en-US" sz="1220" dirty="0">
                <a:solidFill>
                  <a:srgbClr val="151515"/>
                </a:solidFill>
              </a:rPr>
              <a:t>shape → dataset size</a:t>
            </a:r>
            <a:endParaRPr lang="en-US" sz="1220" dirty="0"/>
          </a:p>
          <a:p>
            <a:pPr marL="0" indent="0">
              <a:buNone/>
            </a:pPr>
            <a:r>
              <a:rPr lang="en-US" sz="1220" dirty="0">
                <a:solidFill>
                  <a:srgbClr val="151515"/>
                </a:solidFill>
              </a:rPr>
              <a:t>columns → available variables</a:t>
            </a:r>
            <a:endParaRPr lang="en-US" sz="1220" dirty="0"/>
          </a:p>
          <a:p>
            <a:pPr marL="0" indent="0">
              <a:buNone/>
            </a:pPr>
            <a:r>
              <a:rPr lang="en-US" sz="1220" dirty="0">
                <a:solidFill>
                  <a:srgbClr val="151515"/>
                </a:solidFill>
              </a:rPr>
              <a:t>info() → data types + missing values</a:t>
            </a:r>
            <a:endParaRPr lang="en-US" sz="1220" dirty="0"/>
          </a:p>
          <a:p>
            <a:pPr marL="0" indent="0">
              <a:buNone/>
            </a:pPr>
            <a:r>
              <a:rPr lang="en-US" sz="1220" dirty="0">
                <a:solidFill>
                  <a:srgbClr val="151515"/>
                </a:solidFill>
              </a:rPr>
              <a:t>describe() → quick numerical summary</a:t>
            </a:r>
            <a:endParaRPr lang="en-US" sz="1220" dirty="0"/>
          </a:p>
        </p:txBody>
      </p:sp>
      <p:sp>
        <p:nvSpPr>
          <p:cNvPr id="9" name="Shape 7"/>
          <p:cNvSpPr/>
          <p:nvPr/>
        </p:nvSpPr>
        <p:spPr>
          <a:xfrm>
            <a:off x="6995160" y="3886200"/>
            <a:ext cx="73152" cy="1325880"/>
          </a:xfrm>
          <a:prstGeom prst="rect">
            <a:avLst/>
          </a:prstGeom>
          <a:solidFill>
            <a:srgbClr val="1F4E78"/>
          </a:solidFill>
          <a:ln w="12700">
            <a:solidFill>
              <a:srgbClr val="1F4E78"/>
            </a:solidFill>
            <a:prstDash val="solid"/>
          </a:ln>
        </p:spPr>
      </p:sp>
      <p:sp>
        <p:nvSpPr>
          <p:cNvPr id="10" name="Text 8"/>
          <p:cNvSpPr/>
          <p:nvPr/>
        </p:nvSpPr>
        <p:spPr>
          <a:xfrm>
            <a:off x="7114032" y="3886200"/>
            <a:ext cx="4315968" cy="13258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output</a:t>
            </a:r>
            <a:endParaRPr lang="en-US" sz="1220" dirty="0"/>
          </a:p>
          <a:p>
            <a:pPr marL="0" indent="0">
              <a:buNone/>
            </a:pPr>
            <a:r>
              <a:rPr lang="en-US" sz="1220" dirty="0">
                <a:solidFill>
                  <a:srgbClr val="151515"/>
                </a:solidFill>
              </a:rPr>
              <a:t>Raw data size: 123 rows × 13 columns</a:t>
            </a:r>
            <a:endParaRPr lang="en-US" sz="1220" dirty="0"/>
          </a:p>
          <a:p>
            <a:pPr marL="0" indent="0">
              <a:buNone/>
            </a:pPr>
            <a:r>
              <a:rPr lang="en-US" sz="1220" dirty="0">
                <a:solidFill>
                  <a:srgbClr val="151515"/>
                </a:solidFill>
              </a:rPr>
              <a:t>Important numeric columns: Quantity, Unit_Price, Discount, Sales, Cost, Profit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Data Dictionary — What Each Column Means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this before asking business questions.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777240" y="1280160"/>
            <a:ext cx="5486400" cy="452628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300" dirty="0">
                <a:solidFill>
                  <a:srgbClr val="151515"/>
                </a:solidFill>
                <a:latin typeface="Cascadia Mono" pitchFamily="34" charset="0"/>
                <a:ea typeface="Cascadia Mono" pitchFamily="34" charset="-122"/>
                <a:cs typeface="Cascadia Mono" pitchFamily="34" charset="-120"/>
              </a:rPr>
              <a:t>Column         Meaning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 ─────────────────────────────────────────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Region         Where the order happened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Category       Technology / Furniture / Office Supplies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Product        Specific item purchased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Customer_Type  Customer segment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Quantity       Units purchased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Sales          Revenue after discount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Cost           Estimated cost to company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Profit         Sales minus Cost                          </a:t>
            </a:r>
            <a:endParaRPr lang="en-US" sz="1300" dirty="0"/>
          </a:p>
        </p:txBody>
      </p:sp>
      <p:sp>
        <p:nvSpPr>
          <p:cNvPr id="7" name="Shape 5"/>
          <p:cNvSpPr/>
          <p:nvPr/>
        </p:nvSpPr>
        <p:spPr>
          <a:xfrm>
            <a:off x="6720840" y="1371600"/>
            <a:ext cx="73152" cy="1051560"/>
          </a:xfrm>
          <a:prstGeom prst="rect">
            <a:avLst/>
          </a:prstGeom>
          <a:solidFill>
            <a:srgbClr val="8B0E1A"/>
          </a:solidFill>
          <a:ln w="12700">
            <a:solidFill>
              <a:srgbClr val="8B0E1A"/>
            </a:solidFill>
            <a:prstDash val="solid"/>
          </a:ln>
        </p:spPr>
      </p:sp>
      <p:sp>
        <p:nvSpPr>
          <p:cNvPr id="8" name="Text 6"/>
          <p:cNvSpPr/>
          <p:nvPr/>
        </p:nvSpPr>
        <p:spPr>
          <a:xfrm>
            <a:off x="6839712" y="1371600"/>
            <a:ext cx="4270248" cy="10515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“A good analyst does not jump into code immediately. First, we understand what each column represents.”</a:t>
            </a:r>
            <a:endParaRPr lang="en-US" sz="1220" dirty="0"/>
          </a:p>
        </p:txBody>
      </p:sp>
      <p:sp>
        <p:nvSpPr>
          <p:cNvPr id="9" name="Shape 7"/>
          <p:cNvSpPr/>
          <p:nvPr/>
        </p:nvSpPr>
        <p:spPr>
          <a:xfrm>
            <a:off x="6720840" y="2880360"/>
            <a:ext cx="73152" cy="777240"/>
          </a:xfrm>
          <a:prstGeom prst="rect">
            <a:avLst/>
          </a:prstGeom>
          <a:solidFill>
            <a:srgbClr val="A65A00"/>
          </a:solidFill>
          <a:ln w="12700">
            <a:solidFill>
              <a:srgbClr val="A65A00"/>
            </a:solidFill>
            <a:prstDash val="solid"/>
          </a:ln>
        </p:spPr>
      </p:sp>
      <p:sp>
        <p:nvSpPr>
          <p:cNvPr id="10" name="Text 8"/>
          <p:cNvSpPr/>
          <p:nvPr/>
        </p:nvSpPr>
        <p:spPr>
          <a:xfrm>
            <a:off x="6839712" y="2880360"/>
            <a:ext cx="427024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Question to students</a:t>
            </a:r>
            <a:endParaRPr lang="en-US" sz="1220" dirty="0"/>
          </a:p>
          <a:p>
            <a:pPr marL="0" indent="0">
              <a:buNone/>
            </a:pPr>
            <a:r>
              <a:rPr lang="en-US" sz="1220" dirty="0">
                <a:solidFill>
                  <a:srgbClr val="151515"/>
                </a:solidFill>
              </a:rPr>
              <a:t>Which columns can help us answer business performance questions?</a:t>
            </a:r>
            <a:endParaRPr lang="en-US" sz="1220" dirty="0"/>
          </a:p>
        </p:txBody>
      </p:sp>
      <p:sp>
        <p:nvSpPr>
          <p:cNvPr id="11" name="Shape 9"/>
          <p:cNvSpPr/>
          <p:nvPr/>
        </p:nvSpPr>
        <p:spPr>
          <a:xfrm>
            <a:off x="6720840" y="4114800"/>
            <a:ext cx="73152" cy="777240"/>
          </a:xfrm>
          <a:prstGeom prst="rect">
            <a:avLst/>
          </a:prstGeom>
          <a:solidFill>
            <a:srgbClr val="1F4E78"/>
          </a:solidFill>
          <a:ln w="12700">
            <a:solidFill>
              <a:srgbClr val="1F4E78"/>
            </a:solidFill>
            <a:prstDash val="solid"/>
          </a:ln>
        </p:spPr>
      </p:sp>
      <p:sp>
        <p:nvSpPr>
          <p:cNvPr id="12" name="Text 10"/>
          <p:cNvSpPr/>
          <p:nvPr/>
        </p:nvSpPr>
        <p:spPr>
          <a:xfrm>
            <a:off x="6839712" y="4114800"/>
            <a:ext cx="427024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Useful target columns</a:t>
            </a:r>
            <a:endParaRPr lang="en-US" sz="1220" dirty="0"/>
          </a:p>
          <a:p>
            <a:pPr marL="0" indent="0">
              <a:buNone/>
            </a:pPr>
            <a:r>
              <a:rPr lang="en-US" sz="1220" dirty="0">
                <a:solidFill>
                  <a:srgbClr val="151515"/>
                </a:solidFill>
              </a:rPr>
              <a:t>Sales, Profit, Quantity, Category, Region, Customer_Type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3 — Check Missing Values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Missing values can lead to wrong conclusions if we ignore them.</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777240" y="1463040"/>
            <a:ext cx="4754880" cy="123444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500" dirty="0">
                <a:solidFill>
                  <a:srgbClr val="111111"/>
                </a:solidFill>
                <a:latin typeface="Cascadia Mono" pitchFamily="34" charset="0"/>
                <a:ea typeface="Cascadia Mono" pitchFamily="34" charset="-122"/>
                <a:cs typeface="Cascadia Mono" pitchFamily="34" charset="-120"/>
              </a:rPr>
              <a:t># Count missing values in each column</a:t>
            </a:r>
            <a:endParaRPr lang="en-US" sz="1500" dirty="0"/>
          </a:p>
          <a:p>
            <a:pPr marL="0" indent="0">
              <a:buNone/>
            </a:pPr>
            <a:r>
              <a:rPr lang="en-US" sz="1500" dirty="0">
                <a:solidFill>
                  <a:srgbClr val="111111"/>
                </a:solidFill>
                <a:latin typeface="Cascadia Mono" pitchFamily="34" charset="0"/>
                <a:ea typeface="Cascadia Mono" pitchFamily="34" charset="-122"/>
                <a:cs typeface="Cascadia Mono" pitchFamily="34" charset="-120"/>
              </a:rPr>
              <a:t>df.isnull().sum()</a:t>
            </a:r>
            <a:endParaRPr lang="en-US" sz="1500" dirty="0"/>
          </a:p>
        </p:txBody>
      </p:sp>
      <p:sp>
        <p:nvSpPr>
          <p:cNvPr id="7" name="Shape 5"/>
          <p:cNvSpPr/>
          <p:nvPr/>
        </p:nvSpPr>
        <p:spPr>
          <a:xfrm>
            <a:off x="5897880" y="1463040"/>
            <a:ext cx="73152" cy="1325880"/>
          </a:xfrm>
          <a:prstGeom prst="rect">
            <a:avLst/>
          </a:prstGeom>
          <a:solidFill>
            <a:srgbClr val="1F4E78"/>
          </a:solidFill>
          <a:ln w="12700">
            <a:solidFill>
              <a:srgbClr val="1F4E78"/>
            </a:solidFill>
            <a:prstDash val="solid"/>
          </a:ln>
        </p:spPr>
      </p:sp>
      <p:sp>
        <p:nvSpPr>
          <p:cNvPr id="8" name="Text 6"/>
          <p:cNvSpPr/>
          <p:nvPr/>
        </p:nvSpPr>
        <p:spPr>
          <a:xfrm>
            <a:off x="6016752" y="1463040"/>
            <a:ext cx="4178808" cy="13258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output</a:t>
            </a:r>
            <a:endParaRPr lang="en-US" sz="1220" dirty="0"/>
          </a:p>
          <a:p>
            <a:pPr marL="0" indent="0">
              <a:buNone/>
            </a:pPr>
            <a:r>
              <a:rPr lang="en-US" sz="1220" dirty="0">
                <a:solidFill>
                  <a:srgbClr val="151515"/>
                </a:solidFill>
              </a:rPr>
              <a:t>Customer_Type: 4 missing</a:t>
            </a:r>
            <a:endParaRPr lang="en-US" sz="1220" dirty="0"/>
          </a:p>
          <a:p>
            <a:pPr marL="0" indent="0">
              <a:buNone/>
            </a:pPr>
            <a:r>
              <a:rPr lang="en-US" sz="1220" dirty="0">
                <a:solidFill>
                  <a:srgbClr val="151515"/>
                </a:solidFill>
              </a:rPr>
              <a:t>Unit_Price: 3 missing</a:t>
            </a:r>
            <a:endParaRPr lang="en-US" sz="1220" dirty="0"/>
          </a:p>
          <a:p>
            <a:pPr marL="0" indent="0">
              <a:buNone/>
            </a:pPr>
            <a:r>
              <a:rPr lang="en-US" sz="1220" dirty="0">
                <a:solidFill>
                  <a:srgbClr val="151515"/>
                </a:solidFill>
              </a:rPr>
              <a:t>Discount: 3 missing</a:t>
            </a:r>
            <a:endParaRPr lang="en-US" sz="1220" dirty="0"/>
          </a:p>
        </p:txBody>
      </p:sp>
      <p:sp>
        <p:nvSpPr>
          <p:cNvPr id="9" name="Shape 7"/>
          <p:cNvSpPr/>
          <p:nvPr/>
        </p:nvSpPr>
        <p:spPr>
          <a:xfrm>
            <a:off x="777240" y="3200400"/>
            <a:ext cx="73152" cy="1051560"/>
          </a:xfrm>
          <a:prstGeom prst="rect">
            <a:avLst/>
          </a:prstGeom>
          <a:solidFill>
            <a:srgbClr val="8B0E1A"/>
          </a:solidFill>
          <a:ln w="12700">
            <a:solidFill>
              <a:srgbClr val="8B0E1A"/>
            </a:solidFill>
            <a:prstDash val="solid"/>
          </a:ln>
        </p:spPr>
      </p:sp>
      <p:sp>
        <p:nvSpPr>
          <p:cNvPr id="10" name="Text 8"/>
          <p:cNvSpPr/>
          <p:nvPr/>
        </p:nvSpPr>
        <p:spPr>
          <a:xfrm>
            <a:off x="896112" y="3200400"/>
            <a:ext cx="5138928" cy="10515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Before analysis, we check data quality. Missing values are not always errors, but we need a clear decision for how to handle them.</a:t>
            </a:r>
            <a:endParaRPr lang="en-US" sz="1220" dirty="0"/>
          </a:p>
        </p:txBody>
      </p:sp>
      <p:sp>
        <p:nvSpPr>
          <p:cNvPr id="11" name="Shape 9"/>
          <p:cNvSpPr/>
          <p:nvPr/>
        </p:nvSpPr>
        <p:spPr>
          <a:xfrm>
            <a:off x="6446520" y="3200400"/>
            <a:ext cx="73152" cy="1051560"/>
          </a:xfrm>
          <a:prstGeom prst="rect">
            <a:avLst/>
          </a:prstGeom>
          <a:solidFill>
            <a:srgbClr val="A65A00"/>
          </a:solidFill>
          <a:ln w="12700">
            <a:solidFill>
              <a:srgbClr val="A65A00"/>
            </a:solidFill>
            <a:prstDash val="solid"/>
          </a:ln>
        </p:spPr>
      </p:sp>
      <p:sp>
        <p:nvSpPr>
          <p:cNvPr id="12" name="Text 10"/>
          <p:cNvSpPr/>
          <p:nvPr/>
        </p:nvSpPr>
        <p:spPr>
          <a:xfrm>
            <a:off x="6565392" y="3200400"/>
            <a:ext cx="4590288" cy="10515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Should we delete all missing rows, or fill some values? Why?</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4 — Handle Missing Values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simple, explainable choices for this beginner bootcamp.</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298448"/>
            <a:ext cx="6629400" cy="45262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220" dirty="0">
                <a:solidFill>
                  <a:srgbClr val="111111"/>
                </a:solidFill>
                <a:latin typeface="Cascadia Mono" pitchFamily="34" charset="0"/>
                <a:ea typeface="Cascadia Mono" pitchFamily="34" charset="-122"/>
                <a:cs typeface="Cascadia Mono" pitchFamily="34" charset="-120"/>
              </a:rPr>
              <a:t># Fill missing customer segment with Unknown</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df["Customer_Type"] = df["Customer_Type"].fillna("Unknown")</a:t>
            </a:r>
            <a:endParaRPr lang="en-US" sz="1220" dirty="0"/>
          </a:p>
          <a:p>
            <a:pPr marL="0" indent="0">
              <a:buNone/>
            </a:pP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 Fill missing discounts with 0</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df["Discount"] = df["Discount"].fillna(0)</a:t>
            </a:r>
            <a:endParaRPr lang="en-US" sz="1220" dirty="0"/>
          </a:p>
          <a:p>
            <a:pPr marL="0" indent="0">
              <a:buNone/>
            </a:pP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 Fill missing unit price with the median price</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df["Unit_Price"] = df["Unit_Price"].fillna(df["Unit_Price"].median())</a:t>
            </a:r>
            <a:endParaRPr lang="en-US" sz="1220" dirty="0"/>
          </a:p>
          <a:p>
            <a:pPr marL="0" indent="0">
              <a:buNone/>
            </a:pP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 Check again</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df.isnull().sum()</a:t>
            </a:r>
            <a:endParaRPr lang="en-US" sz="1220" dirty="0"/>
          </a:p>
        </p:txBody>
      </p:sp>
      <p:sp>
        <p:nvSpPr>
          <p:cNvPr id="7" name="Shape 5"/>
          <p:cNvSpPr/>
          <p:nvPr/>
        </p:nvSpPr>
        <p:spPr>
          <a:xfrm>
            <a:off x="7635240" y="1417320"/>
            <a:ext cx="73152" cy="2514600"/>
          </a:xfrm>
          <a:prstGeom prst="rect">
            <a:avLst/>
          </a:prstGeom>
          <a:solidFill>
            <a:srgbClr val="8B0E1A"/>
          </a:solidFill>
          <a:ln w="12700">
            <a:solidFill>
              <a:srgbClr val="8B0E1A"/>
            </a:solidFill>
            <a:prstDash val="solid"/>
          </a:ln>
        </p:spPr>
      </p:sp>
      <p:sp>
        <p:nvSpPr>
          <p:cNvPr id="8" name="Text 6"/>
          <p:cNvSpPr/>
          <p:nvPr/>
        </p:nvSpPr>
        <p:spPr>
          <a:xfrm>
            <a:off x="7754112" y="1417320"/>
            <a:ext cx="3584448" cy="25146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Why these choices?</a:t>
            </a:r>
            <a:endParaRPr lang="en-US" sz="1220" dirty="0"/>
          </a:p>
          <a:p>
            <a:pPr marL="0" indent="0">
              <a:buNone/>
            </a:pPr>
            <a:r>
              <a:rPr lang="en-US" sz="1220" dirty="0">
                <a:solidFill>
                  <a:srgbClr val="151515"/>
                </a:solidFill>
              </a:rPr>
              <a:t>Customer_Type: Unknown is safer than guessing.</a:t>
            </a:r>
            <a:endParaRPr lang="en-US" sz="1220" dirty="0"/>
          </a:p>
          <a:p>
            <a:pPr marL="0" indent="0">
              <a:buNone/>
            </a:pPr>
            <a:r>
              <a:rPr lang="en-US" sz="1220" dirty="0">
                <a:solidFill>
                  <a:srgbClr val="151515"/>
                </a:solidFill>
              </a:rPr>
              <a:t>Discount: missing discount can reasonably mean no discount.</a:t>
            </a:r>
            <a:endParaRPr lang="en-US" sz="1220" dirty="0"/>
          </a:p>
          <a:p>
            <a:pPr marL="0" indent="0">
              <a:buNone/>
            </a:pPr>
            <a:r>
              <a:rPr lang="en-US" sz="1220" dirty="0">
                <a:solidFill>
                  <a:srgbClr val="151515"/>
                </a:solidFill>
              </a:rPr>
              <a:t>Unit_Price: median is less affected by extreme prices than mean.</a:t>
            </a:r>
            <a:endParaRPr lang="en-US" sz="1220" dirty="0"/>
          </a:p>
        </p:txBody>
      </p:sp>
      <p:sp>
        <p:nvSpPr>
          <p:cNvPr id="9" name="Shape 7"/>
          <p:cNvSpPr/>
          <p:nvPr/>
        </p:nvSpPr>
        <p:spPr>
          <a:xfrm>
            <a:off x="7635240" y="4297680"/>
            <a:ext cx="73152" cy="868680"/>
          </a:xfrm>
          <a:prstGeom prst="rect">
            <a:avLst/>
          </a:prstGeom>
          <a:solidFill>
            <a:srgbClr val="1F4E78"/>
          </a:solidFill>
          <a:ln w="12700">
            <a:solidFill>
              <a:srgbClr val="1F4E78"/>
            </a:solidFill>
            <a:prstDash val="solid"/>
          </a:ln>
        </p:spPr>
      </p:sp>
      <p:sp>
        <p:nvSpPr>
          <p:cNvPr id="10" name="Text 8"/>
          <p:cNvSpPr/>
          <p:nvPr/>
        </p:nvSpPr>
        <p:spPr>
          <a:xfrm>
            <a:off x="7754112" y="4297680"/>
            <a:ext cx="3584448" cy="8686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output</a:t>
            </a:r>
            <a:endParaRPr lang="en-US" sz="1220" dirty="0"/>
          </a:p>
          <a:p>
            <a:pPr marL="0" indent="0">
              <a:buNone/>
            </a:pPr>
            <a:r>
              <a:rPr lang="en-US" sz="1220" dirty="0">
                <a:solidFill>
                  <a:srgbClr val="151515"/>
                </a:solidFill>
              </a:rPr>
              <a:t>All columns should show 0 missing values after this step.</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5 — Check and Remove Duplicates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the check → fix → verify pattern.</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989320" cy="40690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 Check number of duplicate rows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df.duplicated().sum()</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Remove exact duplicate rows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 = df.drop_duplicates()</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Verify duplicates are removed</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df.duplicated().sum()</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Check new dataset size</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df.shape</a:t>
            </a:r>
            <a:endParaRPr lang="en-US" sz="1400" dirty="0"/>
          </a:p>
        </p:txBody>
      </p:sp>
      <p:sp>
        <p:nvSpPr>
          <p:cNvPr id="7" name="Shape 5"/>
          <p:cNvSpPr/>
          <p:nvPr/>
        </p:nvSpPr>
        <p:spPr>
          <a:xfrm>
            <a:off x="7086600" y="1463040"/>
            <a:ext cx="73152" cy="1417320"/>
          </a:xfrm>
          <a:prstGeom prst="rect">
            <a:avLst/>
          </a:prstGeom>
          <a:solidFill>
            <a:srgbClr val="1F4E78"/>
          </a:solidFill>
          <a:ln w="12700">
            <a:solidFill>
              <a:srgbClr val="1F4E78"/>
            </a:solidFill>
            <a:prstDash val="solid"/>
          </a:ln>
        </p:spPr>
      </p:sp>
      <p:sp>
        <p:nvSpPr>
          <p:cNvPr id="8" name="Text 6"/>
          <p:cNvSpPr/>
          <p:nvPr/>
        </p:nvSpPr>
        <p:spPr>
          <a:xfrm>
            <a:off x="7205472" y="1463040"/>
            <a:ext cx="3995928" cy="14173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output</a:t>
            </a:r>
            <a:endParaRPr lang="en-US" sz="1220" dirty="0"/>
          </a:p>
          <a:p>
            <a:pPr marL="0" indent="0">
              <a:buNone/>
            </a:pPr>
            <a:r>
              <a:rPr lang="en-US" sz="1220" dirty="0">
                <a:solidFill>
                  <a:srgbClr val="151515"/>
                </a:solidFill>
              </a:rPr>
              <a:t>Before: 3 duplicate rows</a:t>
            </a:r>
            <a:endParaRPr lang="en-US" sz="1220" dirty="0"/>
          </a:p>
          <a:p>
            <a:pPr marL="0" indent="0">
              <a:buNone/>
            </a:pPr>
            <a:r>
              <a:rPr lang="en-US" sz="1220" dirty="0">
                <a:solidFill>
                  <a:srgbClr val="151515"/>
                </a:solidFill>
              </a:rPr>
              <a:t>After: 0 duplicate rows</a:t>
            </a:r>
            <a:endParaRPr lang="en-US" sz="1220" dirty="0"/>
          </a:p>
          <a:p>
            <a:pPr marL="0" indent="0">
              <a:buNone/>
            </a:pPr>
            <a:r>
              <a:rPr lang="en-US" sz="1220" dirty="0">
                <a:solidFill>
                  <a:srgbClr val="151515"/>
                </a:solidFill>
              </a:rPr>
              <a:t>New size: 120 rows × 13 columns</a:t>
            </a:r>
            <a:endParaRPr lang="en-US" sz="1220" dirty="0"/>
          </a:p>
        </p:txBody>
      </p:sp>
      <p:sp>
        <p:nvSpPr>
          <p:cNvPr id="9" name="Shape 7"/>
          <p:cNvSpPr/>
          <p:nvPr/>
        </p:nvSpPr>
        <p:spPr>
          <a:xfrm>
            <a:off x="7086600" y="3383280"/>
            <a:ext cx="73152" cy="1143000"/>
          </a:xfrm>
          <a:prstGeom prst="rect">
            <a:avLst/>
          </a:prstGeom>
          <a:solidFill>
            <a:srgbClr val="8B0E1A"/>
          </a:solidFill>
          <a:ln w="12700">
            <a:solidFill>
              <a:srgbClr val="8B0E1A"/>
            </a:solidFill>
            <a:prstDash val="solid"/>
          </a:ln>
        </p:spPr>
      </p:sp>
      <p:sp>
        <p:nvSpPr>
          <p:cNvPr id="10" name="Text 8"/>
          <p:cNvSpPr/>
          <p:nvPr/>
        </p:nvSpPr>
        <p:spPr>
          <a:xfrm>
            <a:off x="7205472" y="3383280"/>
            <a:ext cx="399592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Duplicates can double-count sales or profit. Removing exact duplicates helps keep the analysis fair.</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6 — Fix Date Type + Create Month Column</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Dates are useful for time-based analysis.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6309360" cy="411480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360" dirty="0">
                <a:solidFill>
                  <a:srgbClr val="111111"/>
                </a:solidFill>
                <a:latin typeface="Cascadia Mono" pitchFamily="34" charset="0"/>
                <a:ea typeface="Cascadia Mono" pitchFamily="34" charset="-122"/>
                <a:cs typeface="Cascadia Mono" pitchFamily="34" charset="-120"/>
              </a:rPr>
              <a:t># Convert Order_Date from text to actual datetime</a:t>
            </a:r>
            <a:endParaRPr lang="en-US" sz="1360" dirty="0"/>
          </a:p>
          <a:p>
            <a:pPr marL="0" indent="0">
              <a:buNone/>
            </a:pPr>
            <a:r>
              <a:rPr lang="en-US" sz="1360" dirty="0">
                <a:solidFill>
                  <a:srgbClr val="111111"/>
                </a:solidFill>
                <a:latin typeface="Cascadia Mono" pitchFamily="34" charset="0"/>
                <a:ea typeface="Cascadia Mono" pitchFamily="34" charset="-122"/>
                <a:cs typeface="Cascadia Mono" pitchFamily="34" charset="-120"/>
              </a:rPr>
              <a:t>df["Order_Date"] = pd.to_datetime(df["Order_Date"])</a:t>
            </a:r>
            <a:endParaRPr lang="en-US" sz="1360" dirty="0"/>
          </a:p>
          <a:p>
            <a:pPr marL="0" indent="0">
              <a:buNone/>
            </a:pPr>
            <a:endParaRPr lang="en-US" sz="1360" dirty="0"/>
          </a:p>
          <a:p>
            <a:pPr marL="0" indent="0">
              <a:buNone/>
            </a:pPr>
            <a:r>
              <a:rPr lang="en-US" sz="1360" dirty="0">
                <a:solidFill>
                  <a:srgbClr val="111111"/>
                </a:solidFill>
                <a:latin typeface="Cascadia Mono" pitchFamily="34" charset="0"/>
                <a:ea typeface="Cascadia Mono" pitchFamily="34" charset="-122"/>
                <a:cs typeface="Cascadia Mono" pitchFamily="34" charset="-120"/>
              </a:rPr>
              <a:t># Create a new Month column</a:t>
            </a:r>
            <a:endParaRPr lang="en-US" sz="1360" dirty="0"/>
          </a:p>
          <a:p>
            <a:pPr marL="0" indent="0">
              <a:buNone/>
            </a:pPr>
            <a:r>
              <a:rPr lang="en-US" sz="1360" dirty="0">
                <a:solidFill>
                  <a:srgbClr val="111111"/>
                </a:solidFill>
                <a:latin typeface="Cascadia Mono" pitchFamily="34" charset="0"/>
                <a:ea typeface="Cascadia Mono" pitchFamily="34" charset="-122"/>
                <a:cs typeface="Cascadia Mono" pitchFamily="34" charset="-120"/>
              </a:rPr>
              <a:t>df["Month"] = df["Order_Date"].dt.month_name()</a:t>
            </a:r>
            <a:endParaRPr lang="en-US" sz="1360" dirty="0"/>
          </a:p>
          <a:p>
            <a:pPr marL="0" indent="0">
              <a:buNone/>
            </a:pPr>
            <a:endParaRPr lang="en-US" sz="1360" dirty="0"/>
          </a:p>
          <a:p>
            <a:pPr marL="0" indent="0">
              <a:buNone/>
            </a:pPr>
            <a:r>
              <a:rPr lang="en-US" sz="1360" dirty="0">
                <a:solidFill>
                  <a:srgbClr val="111111"/>
                </a:solidFill>
                <a:latin typeface="Cascadia Mono" pitchFamily="34" charset="0"/>
                <a:ea typeface="Cascadia Mono" pitchFamily="34" charset="-122"/>
                <a:cs typeface="Cascadia Mono" pitchFamily="34" charset="-120"/>
              </a:rPr>
              <a:t># Preview date-related columns</a:t>
            </a:r>
            <a:endParaRPr lang="en-US" sz="1360" dirty="0"/>
          </a:p>
          <a:p>
            <a:pPr marL="0" indent="0">
              <a:buNone/>
            </a:pPr>
            <a:r>
              <a:rPr lang="en-US" sz="1360" dirty="0">
                <a:solidFill>
                  <a:srgbClr val="111111"/>
                </a:solidFill>
                <a:latin typeface="Cascadia Mono" pitchFamily="34" charset="0"/>
                <a:ea typeface="Cascadia Mono" pitchFamily="34" charset="-122"/>
                <a:cs typeface="Cascadia Mono" pitchFamily="34" charset="-120"/>
              </a:rPr>
              <a:t>df[["Order_Date", "Month"]].head()</a:t>
            </a:r>
            <a:endParaRPr lang="en-US" sz="1360" dirty="0"/>
          </a:p>
        </p:txBody>
      </p:sp>
      <p:sp>
        <p:nvSpPr>
          <p:cNvPr id="7" name="Shape 5"/>
          <p:cNvSpPr/>
          <p:nvPr/>
        </p:nvSpPr>
        <p:spPr>
          <a:xfrm>
            <a:off x="7315200" y="1417320"/>
            <a:ext cx="73152" cy="1234440"/>
          </a:xfrm>
          <a:prstGeom prst="rect">
            <a:avLst/>
          </a:prstGeom>
          <a:solidFill>
            <a:srgbClr val="8B0E1A"/>
          </a:solidFill>
          <a:ln w="12700">
            <a:solidFill>
              <a:srgbClr val="8B0E1A"/>
            </a:solidFill>
            <a:prstDash val="solid"/>
          </a:ln>
        </p:spPr>
      </p:sp>
      <p:sp>
        <p:nvSpPr>
          <p:cNvPr id="8" name="Text 6"/>
          <p:cNvSpPr/>
          <p:nvPr/>
        </p:nvSpPr>
        <p:spPr>
          <a:xfrm>
            <a:off x="7434072" y="1417320"/>
            <a:ext cx="3767328" cy="12344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Explanation</a:t>
            </a:r>
            <a:endParaRPr lang="en-US" sz="1220" dirty="0"/>
          </a:p>
          <a:p>
            <a:pPr marL="0" indent="0">
              <a:buNone/>
            </a:pPr>
            <a:r>
              <a:rPr lang="en-US" sz="1220" dirty="0">
                <a:solidFill>
                  <a:srgbClr val="151515"/>
                </a:solidFill>
              </a:rPr>
              <a:t>CSV files often store dates as text. pd.to_datetime() allows Python to understand the column as dates.</a:t>
            </a:r>
            <a:endParaRPr lang="en-US" sz="1220" dirty="0"/>
          </a:p>
        </p:txBody>
      </p:sp>
      <p:sp>
        <p:nvSpPr>
          <p:cNvPr id="9" name="Shape 7"/>
          <p:cNvSpPr/>
          <p:nvPr/>
        </p:nvSpPr>
        <p:spPr>
          <a:xfrm>
            <a:off x="7315200" y="3063240"/>
            <a:ext cx="73152" cy="960120"/>
          </a:xfrm>
          <a:prstGeom prst="rect">
            <a:avLst/>
          </a:prstGeom>
          <a:solidFill>
            <a:srgbClr val="1F4E78"/>
          </a:solidFill>
          <a:ln w="12700">
            <a:solidFill>
              <a:srgbClr val="1F4E78"/>
            </a:solidFill>
            <a:prstDash val="solid"/>
          </a:ln>
        </p:spPr>
      </p:sp>
      <p:sp>
        <p:nvSpPr>
          <p:cNvPr id="10" name="Text 8"/>
          <p:cNvSpPr/>
          <p:nvPr/>
        </p:nvSpPr>
        <p:spPr>
          <a:xfrm>
            <a:off x="7434072" y="3063240"/>
            <a:ext cx="3767328" cy="9601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Why create Month?</a:t>
            </a:r>
            <a:endParaRPr lang="en-US" sz="1220" dirty="0"/>
          </a:p>
          <a:p>
            <a:pPr marL="0" indent="0">
              <a:buNone/>
            </a:pPr>
            <a:r>
              <a:rPr lang="en-US" sz="1220" dirty="0">
                <a:solidFill>
                  <a:srgbClr val="151515"/>
                </a:solidFill>
              </a:rPr>
              <a:t>It helps us compare performance by month without manually reading every date.</a:t>
            </a:r>
            <a:endParaRPr lang="en-US" sz="1220" dirty="0"/>
          </a:p>
        </p:txBody>
      </p:sp>
      <p:sp>
        <p:nvSpPr>
          <p:cNvPr id="11" name="Shape 9"/>
          <p:cNvSpPr/>
          <p:nvPr/>
        </p:nvSpPr>
        <p:spPr>
          <a:xfrm>
            <a:off x="7315200" y="4434840"/>
            <a:ext cx="73152" cy="731520"/>
          </a:xfrm>
          <a:prstGeom prst="rect">
            <a:avLst/>
          </a:prstGeom>
          <a:solidFill>
            <a:srgbClr val="A65A00"/>
          </a:solidFill>
          <a:ln w="12700">
            <a:solidFill>
              <a:srgbClr val="A65A00"/>
            </a:solidFill>
            <a:prstDash val="solid"/>
          </a:ln>
        </p:spPr>
      </p:sp>
      <p:sp>
        <p:nvSpPr>
          <p:cNvPr id="12" name="Text 10"/>
          <p:cNvSpPr/>
          <p:nvPr/>
        </p:nvSpPr>
        <p:spPr>
          <a:xfrm>
            <a:off x="7434072" y="4434840"/>
            <a:ext cx="3767328" cy="7315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Mini question</a:t>
            </a:r>
            <a:endParaRPr lang="en-US" sz="1220" dirty="0"/>
          </a:p>
          <a:p>
            <a:pPr marL="0" indent="0">
              <a:buNone/>
            </a:pPr>
            <a:r>
              <a:rPr lang="en-US" sz="1220" dirty="0">
                <a:solidFill>
                  <a:srgbClr val="151515"/>
                </a:solidFill>
              </a:rPr>
              <a:t>Which month appears most often in the first few rows?</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7 — Descriptive Statistics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Get a quick numerical overview after cleaning.</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577840" cy="31546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380" dirty="0">
                <a:solidFill>
                  <a:srgbClr val="111111"/>
                </a:solidFill>
                <a:latin typeface="Cascadia Mono" pitchFamily="34" charset="0"/>
                <a:ea typeface="Cascadia Mono" pitchFamily="34" charset="-122"/>
                <a:cs typeface="Cascadia Mono" pitchFamily="34" charset="-120"/>
              </a:rPr>
              <a:t># Main numerical summary</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df[["Sales", "Cost", "Profit", "Quantity", "Discount"]].describe()</a:t>
            </a:r>
            <a:endParaRPr lang="en-US" sz="1380" dirty="0"/>
          </a:p>
          <a:p>
            <a:pPr marL="0" indent="0">
              <a:buNone/>
            </a:pP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 Quick averages</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df["Sales"].mean()</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df["Profit"].mean()</a:t>
            </a:r>
            <a:endParaRPr lang="en-US" sz="1380" dirty="0"/>
          </a:p>
        </p:txBody>
      </p:sp>
      <p:sp>
        <p:nvSpPr>
          <p:cNvPr id="7" name="Text 5"/>
          <p:cNvSpPr/>
          <p:nvPr/>
        </p:nvSpPr>
        <p:spPr>
          <a:xfrm>
            <a:off x="6583680" y="1417320"/>
            <a:ext cx="4572000" cy="205740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200" dirty="0">
                <a:solidFill>
                  <a:srgbClr val="151515"/>
                </a:solidFill>
                <a:latin typeface="Cascadia Mono" pitchFamily="34" charset="0"/>
                <a:ea typeface="Cascadia Mono" pitchFamily="34" charset="-122"/>
                <a:cs typeface="Cascadia Mono" pitchFamily="34" charset="-120"/>
              </a:rPr>
              <a:t>Metric  Sales     Profit   Quantity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 ───────── ──────── ─────────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Mean    2363.19   561.13   3.54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Median  1218.40   319.06   3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Max     16569.00  6000.00  30        </a:t>
            </a:r>
            <a:endParaRPr lang="en-US" sz="1200" dirty="0"/>
          </a:p>
        </p:txBody>
      </p:sp>
      <p:sp>
        <p:nvSpPr>
          <p:cNvPr id="8" name="Shape 6"/>
          <p:cNvSpPr/>
          <p:nvPr/>
        </p:nvSpPr>
        <p:spPr>
          <a:xfrm>
            <a:off x="960120" y="4892040"/>
            <a:ext cx="73152" cy="777240"/>
          </a:xfrm>
          <a:prstGeom prst="rect">
            <a:avLst/>
          </a:prstGeom>
          <a:solidFill>
            <a:srgbClr val="8B0E1A"/>
          </a:solidFill>
          <a:ln w="12700">
            <a:solidFill>
              <a:srgbClr val="8B0E1A"/>
            </a:solidFill>
            <a:prstDash val="solid"/>
          </a:ln>
        </p:spPr>
      </p:sp>
      <p:sp>
        <p:nvSpPr>
          <p:cNvPr id="9" name="Text 7"/>
          <p:cNvSpPr/>
          <p:nvPr/>
        </p:nvSpPr>
        <p:spPr>
          <a:xfrm>
            <a:off x="1078992" y="4892040"/>
            <a:ext cx="1003096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Mean sales are much higher than median sales. This suggests a few large orders pull the average upward.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Business Question 1 — Which Category Generates Most Sales?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This is where groupby() becomes a business tool.</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532120" cy="374904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sales_by_category = (</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df.groupby("Category")["Sales"]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.sum()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.sort_values(ascending=False)</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sales_by_category</a:t>
            </a:r>
            <a:endParaRPr lang="en-US" sz="1400" dirty="0"/>
          </a:p>
        </p:txBody>
      </p:sp>
      <p:sp>
        <p:nvSpPr>
          <p:cNvPr id="7" name="Text 5"/>
          <p:cNvSpPr/>
          <p:nvPr/>
        </p:nvSpPr>
        <p:spPr>
          <a:xfrm>
            <a:off x="6675120" y="1417320"/>
            <a:ext cx="4251960" cy="196596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300" dirty="0">
                <a:solidFill>
                  <a:srgbClr val="151515"/>
                </a:solidFill>
                <a:latin typeface="Cascadia Mono" pitchFamily="34" charset="0"/>
                <a:ea typeface="Cascadia Mono" pitchFamily="34" charset="-122"/>
                <a:cs typeface="Cascadia Mono" pitchFamily="34" charset="-120"/>
              </a:rPr>
              <a:t>Category         Total Sales (RM)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 ─────────────────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Technology       174,120.27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Furniture        103,732.13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Office Supplies  5,730.53          </a:t>
            </a:r>
            <a:endParaRPr lang="en-US" sz="1300" dirty="0"/>
          </a:p>
        </p:txBody>
      </p:sp>
      <p:sp>
        <p:nvSpPr>
          <p:cNvPr id="8" name="Shape 6"/>
          <p:cNvSpPr/>
          <p:nvPr/>
        </p:nvSpPr>
        <p:spPr>
          <a:xfrm>
            <a:off x="6629400" y="3794760"/>
            <a:ext cx="73152" cy="1188720"/>
          </a:xfrm>
          <a:prstGeom prst="rect">
            <a:avLst/>
          </a:prstGeom>
          <a:solidFill>
            <a:srgbClr val="8B0E1A"/>
          </a:solidFill>
          <a:ln w="12700">
            <a:solidFill>
              <a:srgbClr val="8B0E1A"/>
            </a:solidFill>
            <a:prstDash val="solid"/>
          </a:ln>
        </p:spPr>
      </p:sp>
      <p:sp>
        <p:nvSpPr>
          <p:cNvPr id="9" name="Text 7"/>
          <p:cNvSpPr/>
          <p:nvPr/>
        </p:nvSpPr>
        <p:spPr>
          <a:xfrm>
            <a:off x="6748272" y="3794760"/>
            <a:ext cx="4270248" cy="11887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err="1">
                <a:solidFill>
                  <a:srgbClr val="151515"/>
                </a:solidFill>
              </a:rPr>
              <a:t>groupby</a:t>
            </a:r>
            <a:r>
              <a:rPr lang="en-US" sz="1220" dirty="0">
                <a:solidFill>
                  <a:srgbClr val="151515"/>
                </a:solidFill>
              </a:rPr>
              <a:t>("Category") groups rows by product category. sum() adds all Sales in each group. sort_values() ranks them highest to lowest.</a:t>
            </a:r>
            <a:endParaRPr lang="en-US" sz="1220" dirty="0"/>
          </a:p>
        </p:txBody>
      </p:sp>
      <p:sp>
        <p:nvSpPr>
          <p:cNvPr id="10" name="Shape 8"/>
          <p:cNvSpPr/>
          <p:nvPr/>
        </p:nvSpPr>
        <p:spPr>
          <a:xfrm>
            <a:off x="914400" y="5532120"/>
            <a:ext cx="73152" cy="475488"/>
          </a:xfrm>
          <a:prstGeom prst="rect">
            <a:avLst/>
          </a:prstGeom>
          <a:solidFill>
            <a:srgbClr val="1F4E78"/>
          </a:solidFill>
          <a:ln w="12700">
            <a:solidFill>
              <a:srgbClr val="1F4E78"/>
            </a:solidFill>
            <a:prstDash val="solid"/>
          </a:ln>
        </p:spPr>
      </p:sp>
      <p:sp>
        <p:nvSpPr>
          <p:cNvPr id="11" name="Text 9"/>
          <p:cNvSpPr/>
          <p:nvPr/>
        </p:nvSpPr>
        <p:spPr>
          <a:xfrm>
            <a:off x="1033272" y="5532120"/>
            <a:ext cx="10122408" cy="475488"/>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a:t>
            </a:r>
            <a:endParaRPr lang="en-US" sz="1220" dirty="0"/>
          </a:p>
          <a:p>
            <a:pPr marL="0" indent="0">
              <a:buNone/>
            </a:pPr>
            <a:r>
              <a:rPr lang="en-US" sz="1220" dirty="0">
                <a:solidFill>
                  <a:srgbClr val="151515"/>
                </a:solidFill>
              </a:rPr>
              <a:t>Technology is the strongest revenue category.</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Business Question 2 — Which Category Generates Most Profit?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Revenue is not enough. Profit tells us what the company keeps.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532120" cy="374904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profit_by_category = (</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df.groupby("Category")["Profit"]</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.sum()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      .sort_values(ascending=False)</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profit_by_category</a:t>
            </a:r>
            <a:endParaRPr lang="en-US" sz="1400" dirty="0"/>
          </a:p>
        </p:txBody>
      </p:sp>
      <p:sp>
        <p:nvSpPr>
          <p:cNvPr id="7" name="Text 5"/>
          <p:cNvSpPr/>
          <p:nvPr/>
        </p:nvSpPr>
        <p:spPr>
          <a:xfrm>
            <a:off x="6675120" y="1417320"/>
            <a:ext cx="4251960" cy="196596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300" dirty="0">
                <a:solidFill>
                  <a:srgbClr val="151515"/>
                </a:solidFill>
                <a:latin typeface="Cascadia Mono" pitchFamily="34" charset="0"/>
                <a:ea typeface="Cascadia Mono" pitchFamily="34" charset="-122"/>
                <a:cs typeface="Cascadia Mono" pitchFamily="34" charset="-120"/>
              </a:rPr>
              <a:t>Category         Total Profit (RM)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 ──────────────────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Technology       34,102.48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Furniture        30,913.04          </a:t>
            </a:r>
            <a:endParaRPr lang="en-US" sz="1300" dirty="0"/>
          </a:p>
          <a:p>
            <a:pPr marL="0" indent="0">
              <a:buNone/>
            </a:pPr>
            <a:r>
              <a:rPr lang="en-US" sz="1300" dirty="0">
                <a:solidFill>
                  <a:srgbClr val="151515"/>
                </a:solidFill>
                <a:latin typeface="Cascadia Mono" pitchFamily="34" charset="0"/>
                <a:ea typeface="Cascadia Mono" pitchFamily="34" charset="-122"/>
                <a:cs typeface="Cascadia Mono" pitchFamily="34" charset="-120"/>
              </a:rPr>
              <a:t>Office Supplies  2,320.35           </a:t>
            </a:r>
            <a:endParaRPr lang="en-US" sz="1300" dirty="0"/>
          </a:p>
        </p:txBody>
      </p:sp>
      <p:sp>
        <p:nvSpPr>
          <p:cNvPr id="8" name="Shape 6"/>
          <p:cNvSpPr/>
          <p:nvPr/>
        </p:nvSpPr>
        <p:spPr>
          <a:xfrm>
            <a:off x="6629400" y="3794760"/>
            <a:ext cx="73152" cy="1188720"/>
          </a:xfrm>
          <a:prstGeom prst="rect">
            <a:avLst/>
          </a:prstGeom>
          <a:solidFill>
            <a:srgbClr val="8B0E1A"/>
          </a:solidFill>
          <a:ln w="12700">
            <a:solidFill>
              <a:srgbClr val="8B0E1A"/>
            </a:solidFill>
            <a:prstDash val="solid"/>
          </a:ln>
        </p:spPr>
      </p:sp>
      <p:sp>
        <p:nvSpPr>
          <p:cNvPr id="9" name="Text 7"/>
          <p:cNvSpPr/>
          <p:nvPr/>
        </p:nvSpPr>
        <p:spPr>
          <a:xfrm>
            <a:off x="6748272" y="3794760"/>
            <a:ext cx="4270248" cy="11887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A category can have high sales but not always the highest profit margin. We compare both Sales and Profit before recommending.</a:t>
            </a:r>
            <a:endParaRPr lang="en-US" sz="1220" dirty="0"/>
          </a:p>
        </p:txBody>
      </p:sp>
      <p:sp>
        <p:nvSpPr>
          <p:cNvPr id="10" name="Shape 8"/>
          <p:cNvSpPr/>
          <p:nvPr/>
        </p:nvSpPr>
        <p:spPr>
          <a:xfrm>
            <a:off x="914400" y="5532120"/>
            <a:ext cx="73152" cy="475488"/>
          </a:xfrm>
          <a:prstGeom prst="rect">
            <a:avLst/>
          </a:prstGeom>
          <a:solidFill>
            <a:srgbClr val="1F4E78"/>
          </a:solidFill>
          <a:ln w="12700">
            <a:solidFill>
              <a:srgbClr val="1F4E78"/>
            </a:solidFill>
            <a:prstDash val="solid"/>
          </a:ln>
        </p:spPr>
      </p:sp>
      <p:sp>
        <p:nvSpPr>
          <p:cNvPr id="11" name="Text 9"/>
          <p:cNvSpPr/>
          <p:nvPr/>
        </p:nvSpPr>
        <p:spPr>
          <a:xfrm>
            <a:off x="1033272" y="5532120"/>
            <a:ext cx="10122408" cy="475488"/>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a:t>
            </a:r>
            <a:endParaRPr lang="en-US" sz="1220" dirty="0"/>
          </a:p>
          <a:p>
            <a:pPr marL="0" indent="0">
              <a:buNone/>
            </a:pPr>
            <a:r>
              <a:rPr lang="en-US" sz="1220" dirty="0">
                <a:solidFill>
                  <a:srgbClr val="151515"/>
                </a:solidFill>
              </a:rPr>
              <a:t>Technology also leads in total profit, but Furniture is close enough to investigate.</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Business Question 3 — Which Region Performs Best?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Analyse the business geographically.</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669280" cy="393192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380" dirty="0">
                <a:solidFill>
                  <a:srgbClr val="111111"/>
                </a:solidFill>
                <a:latin typeface="Cascadia Mono" pitchFamily="34" charset="0"/>
                <a:ea typeface="Cascadia Mono" pitchFamily="34" charset="-122"/>
                <a:cs typeface="Cascadia Mono" pitchFamily="34" charset="-120"/>
              </a:rPr>
              <a:t>region_performance = (</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    df.groupby("Region")[["Sales", "Profit"]]</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      .sum()</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      .sort_values("Profit", ascending=False)</a:t>
            </a: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a:t>
            </a:r>
            <a:endParaRPr lang="en-US" sz="1380" dirty="0"/>
          </a:p>
          <a:p>
            <a:pPr marL="0" indent="0">
              <a:buNone/>
            </a:pPr>
            <a:endParaRPr lang="en-US" sz="1380" dirty="0"/>
          </a:p>
          <a:p>
            <a:pPr marL="0" indent="0">
              <a:buNone/>
            </a:pPr>
            <a:r>
              <a:rPr lang="en-US" sz="1380" dirty="0">
                <a:solidFill>
                  <a:srgbClr val="111111"/>
                </a:solidFill>
                <a:latin typeface="Cascadia Mono" pitchFamily="34" charset="0"/>
                <a:ea typeface="Cascadia Mono" pitchFamily="34" charset="-122"/>
                <a:cs typeface="Cascadia Mono" pitchFamily="34" charset="-120"/>
              </a:rPr>
              <a:t>region_performance</a:t>
            </a:r>
            <a:endParaRPr lang="en-US" sz="1380" dirty="0"/>
          </a:p>
        </p:txBody>
      </p:sp>
      <p:sp>
        <p:nvSpPr>
          <p:cNvPr id="7" name="Text 5"/>
          <p:cNvSpPr/>
          <p:nvPr/>
        </p:nvSpPr>
        <p:spPr>
          <a:xfrm>
            <a:off x="6675120" y="1325880"/>
            <a:ext cx="4572000" cy="274320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080" dirty="0">
                <a:solidFill>
                  <a:srgbClr val="151515"/>
                </a:solidFill>
                <a:latin typeface="Cascadia Mono" pitchFamily="34" charset="0"/>
                <a:ea typeface="Cascadia Mono" pitchFamily="34" charset="-122"/>
                <a:cs typeface="Cascadia Mono" pitchFamily="34" charset="-120"/>
              </a:rPr>
              <a:t>Region         Sales       Profit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 ─────────── ──────────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Central        128,784.71  29,127.57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East Malaysia  65,389.30   14,099.52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Southern       42,368.75   12,458.92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Northern       31,011.34   6,846.65   </a:t>
            </a:r>
            <a:endParaRPr lang="en-US" sz="1080" dirty="0"/>
          </a:p>
          <a:p>
            <a:pPr marL="0" indent="0">
              <a:buNone/>
            </a:pPr>
            <a:r>
              <a:rPr lang="en-US" sz="1080" dirty="0">
                <a:solidFill>
                  <a:srgbClr val="151515"/>
                </a:solidFill>
                <a:latin typeface="Cascadia Mono" pitchFamily="34" charset="0"/>
                <a:ea typeface="Cascadia Mono" pitchFamily="34" charset="-122"/>
                <a:cs typeface="Cascadia Mono" pitchFamily="34" charset="-120"/>
              </a:rPr>
              <a:t>East Coast     16,028.83   4,803.21   </a:t>
            </a:r>
            <a:endParaRPr lang="en-US" sz="1080" dirty="0"/>
          </a:p>
        </p:txBody>
      </p:sp>
      <p:sp>
        <p:nvSpPr>
          <p:cNvPr id="8" name="Shape 6"/>
          <p:cNvSpPr/>
          <p:nvPr/>
        </p:nvSpPr>
        <p:spPr>
          <a:xfrm>
            <a:off x="6675120" y="4434840"/>
            <a:ext cx="73152" cy="640080"/>
          </a:xfrm>
          <a:prstGeom prst="rect">
            <a:avLst/>
          </a:prstGeom>
          <a:solidFill>
            <a:srgbClr val="1F4E78"/>
          </a:solidFill>
          <a:ln w="12700">
            <a:solidFill>
              <a:srgbClr val="1F4E78"/>
            </a:solidFill>
            <a:prstDash val="solid"/>
          </a:ln>
        </p:spPr>
      </p:sp>
      <p:sp>
        <p:nvSpPr>
          <p:cNvPr id="9" name="Text 7"/>
          <p:cNvSpPr/>
          <p:nvPr/>
        </p:nvSpPr>
        <p:spPr>
          <a:xfrm>
            <a:off x="6793992" y="4434840"/>
            <a:ext cx="4453128" cy="6400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a:t>
            </a:r>
            <a:endParaRPr lang="en-US" sz="1220" dirty="0"/>
          </a:p>
          <a:p>
            <a:pPr marL="0" indent="0">
              <a:buNone/>
            </a:pPr>
            <a:r>
              <a:rPr lang="en-US" sz="1220" dirty="0">
                <a:solidFill>
                  <a:srgbClr val="151515"/>
                </a:solidFill>
              </a:rPr>
              <a:t>Central region is clearly the strongest by both sales and profit.</a:t>
            </a:r>
            <a:endParaRPr lang="en-US" sz="1220" dirty="0"/>
          </a:p>
        </p:txBody>
      </p:sp>
      <p:sp>
        <p:nvSpPr>
          <p:cNvPr id="10" name="Shape 8"/>
          <p:cNvSpPr/>
          <p:nvPr/>
        </p:nvSpPr>
        <p:spPr>
          <a:xfrm>
            <a:off x="914400" y="5577840"/>
            <a:ext cx="73152" cy="502920"/>
          </a:xfrm>
          <a:prstGeom prst="rect">
            <a:avLst/>
          </a:prstGeom>
          <a:solidFill>
            <a:srgbClr val="8B0E1A"/>
          </a:solidFill>
          <a:ln w="12700">
            <a:solidFill>
              <a:srgbClr val="8B0E1A"/>
            </a:solidFill>
            <a:prstDash val="solid"/>
          </a:ln>
        </p:spPr>
      </p:sp>
      <p:sp>
        <p:nvSpPr>
          <p:cNvPr id="11" name="Text 9"/>
          <p:cNvSpPr/>
          <p:nvPr/>
        </p:nvSpPr>
        <p:spPr>
          <a:xfrm>
            <a:off x="1033272" y="5577840"/>
            <a:ext cx="10076688" cy="5029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Possible recommendation</a:t>
            </a:r>
            <a:endParaRPr lang="en-US" sz="1220" dirty="0"/>
          </a:p>
          <a:p>
            <a:pPr marL="0" indent="0">
              <a:buNone/>
            </a:pPr>
            <a:r>
              <a:rPr lang="en-US" sz="1220" dirty="0">
                <a:solidFill>
                  <a:srgbClr val="151515"/>
                </a:solidFill>
              </a:rPr>
              <a:t>Study what Central is doing well and apply similar strategy to weaker regions.</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Business Question 4 — Which Customer Type Is Most Valuable?</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Segment analysis helps management decide where to focus.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897880" cy="402336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350" dirty="0">
                <a:solidFill>
                  <a:srgbClr val="111111"/>
                </a:solidFill>
                <a:latin typeface="Cascadia Mono" pitchFamily="34" charset="0"/>
                <a:ea typeface="Cascadia Mono" pitchFamily="34" charset="-122"/>
                <a:cs typeface="Cascadia Mono" pitchFamily="34" charset="-120"/>
              </a:rPr>
              <a:t>customer_performance = (</a:t>
            </a:r>
            <a:endParaRPr lang="en-US" sz="1350" dirty="0"/>
          </a:p>
          <a:p>
            <a:pPr marL="0" indent="0">
              <a:buNone/>
            </a:pPr>
            <a:r>
              <a:rPr lang="en-US" sz="1350" dirty="0">
                <a:solidFill>
                  <a:srgbClr val="111111"/>
                </a:solidFill>
                <a:latin typeface="Cascadia Mono" pitchFamily="34" charset="0"/>
                <a:ea typeface="Cascadia Mono" pitchFamily="34" charset="-122"/>
                <a:cs typeface="Cascadia Mono" pitchFamily="34" charset="-120"/>
              </a:rPr>
              <a:t>    df.groupby("Customer_Type")[["Sales", "Profit"]]</a:t>
            </a:r>
            <a:endParaRPr lang="en-US" sz="1350" dirty="0"/>
          </a:p>
          <a:p>
            <a:pPr marL="0" indent="0">
              <a:buNone/>
            </a:pPr>
            <a:r>
              <a:rPr lang="en-US" sz="1350" dirty="0">
                <a:solidFill>
                  <a:srgbClr val="111111"/>
                </a:solidFill>
                <a:latin typeface="Cascadia Mono" pitchFamily="34" charset="0"/>
                <a:ea typeface="Cascadia Mono" pitchFamily="34" charset="-122"/>
                <a:cs typeface="Cascadia Mono" pitchFamily="34" charset="-120"/>
              </a:rPr>
              <a:t>      .sum()</a:t>
            </a:r>
            <a:endParaRPr lang="en-US" sz="1350" dirty="0"/>
          </a:p>
          <a:p>
            <a:pPr marL="0" indent="0">
              <a:buNone/>
            </a:pPr>
            <a:r>
              <a:rPr lang="en-US" sz="1350" dirty="0">
                <a:solidFill>
                  <a:srgbClr val="111111"/>
                </a:solidFill>
                <a:latin typeface="Cascadia Mono" pitchFamily="34" charset="0"/>
                <a:ea typeface="Cascadia Mono" pitchFamily="34" charset="-122"/>
                <a:cs typeface="Cascadia Mono" pitchFamily="34" charset="-120"/>
              </a:rPr>
              <a:t>      .sort_values("Profit", ascending=False)</a:t>
            </a:r>
            <a:endParaRPr lang="en-US" sz="1350" dirty="0"/>
          </a:p>
          <a:p>
            <a:pPr marL="0" indent="0">
              <a:buNone/>
            </a:pPr>
            <a:r>
              <a:rPr lang="en-US" sz="1350" dirty="0">
                <a:solidFill>
                  <a:srgbClr val="111111"/>
                </a:solidFill>
                <a:latin typeface="Cascadia Mono" pitchFamily="34" charset="0"/>
                <a:ea typeface="Cascadia Mono" pitchFamily="34" charset="-122"/>
                <a:cs typeface="Cascadia Mono" pitchFamily="34" charset="-120"/>
              </a:rPr>
              <a:t>)</a:t>
            </a:r>
            <a:endParaRPr lang="en-US" sz="1350" dirty="0"/>
          </a:p>
          <a:p>
            <a:pPr marL="0" indent="0">
              <a:buNone/>
            </a:pPr>
            <a:endParaRPr lang="en-US" sz="1350" dirty="0"/>
          </a:p>
          <a:p>
            <a:pPr marL="0" indent="0">
              <a:buNone/>
            </a:pPr>
            <a:r>
              <a:rPr lang="en-US" sz="1350" dirty="0">
                <a:solidFill>
                  <a:srgbClr val="111111"/>
                </a:solidFill>
                <a:latin typeface="Cascadia Mono" pitchFamily="34" charset="0"/>
                <a:ea typeface="Cascadia Mono" pitchFamily="34" charset="-122"/>
                <a:cs typeface="Cascadia Mono" pitchFamily="34" charset="-120"/>
              </a:rPr>
              <a:t>customer_performance</a:t>
            </a:r>
            <a:endParaRPr lang="en-US" sz="1350" dirty="0"/>
          </a:p>
        </p:txBody>
      </p:sp>
      <p:sp>
        <p:nvSpPr>
          <p:cNvPr id="7" name="Text 5"/>
          <p:cNvSpPr/>
          <p:nvPr/>
        </p:nvSpPr>
        <p:spPr>
          <a:xfrm>
            <a:off x="6903720" y="1325880"/>
            <a:ext cx="4343400" cy="274320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050" dirty="0">
                <a:solidFill>
                  <a:srgbClr val="151515"/>
                </a:solidFill>
                <a:latin typeface="Cascadia Mono" pitchFamily="34" charset="0"/>
                <a:ea typeface="Cascadia Mono" pitchFamily="34" charset="-122"/>
                <a:cs typeface="Cascadia Mono" pitchFamily="34" charset="-120"/>
              </a:rPr>
              <a:t>Customer Type   Sales       Profit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 ─────────── ──────────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Individual      102,831.80  26,631.92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Corporate       75,127.99   17,684.03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Small Business  48,908.60   11,377.74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Student         55,209.85   11,164.97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Unknown         1,504.69    477.21     </a:t>
            </a:r>
            <a:endParaRPr lang="en-US" sz="1050" dirty="0"/>
          </a:p>
        </p:txBody>
      </p:sp>
      <p:sp>
        <p:nvSpPr>
          <p:cNvPr id="8" name="Shape 6"/>
          <p:cNvSpPr/>
          <p:nvPr/>
        </p:nvSpPr>
        <p:spPr>
          <a:xfrm>
            <a:off x="6903720" y="4434840"/>
            <a:ext cx="73152" cy="822960"/>
          </a:xfrm>
          <a:prstGeom prst="rect">
            <a:avLst/>
          </a:prstGeom>
          <a:solidFill>
            <a:srgbClr val="8B0E1A"/>
          </a:solidFill>
          <a:ln w="12700">
            <a:solidFill>
              <a:srgbClr val="8B0E1A"/>
            </a:solidFill>
            <a:prstDash val="solid"/>
          </a:ln>
        </p:spPr>
      </p:sp>
      <p:sp>
        <p:nvSpPr>
          <p:cNvPr id="9" name="Text 7"/>
          <p:cNvSpPr/>
          <p:nvPr/>
        </p:nvSpPr>
        <p:spPr>
          <a:xfrm>
            <a:off x="7022592" y="4434840"/>
            <a:ext cx="4224528" cy="8229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Customer segments help turn analysis into marketing or operational decisions.</a:t>
            </a:r>
            <a:endParaRPr lang="en-US" sz="1220" dirty="0"/>
          </a:p>
        </p:txBody>
      </p:sp>
      <p:sp>
        <p:nvSpPr>
          <p:cNvPr id="10" name="Shape 8"/>
          <p:cNvSpPr/>
          <p:nvPr/>
        </p:nvSpPr>
        <p:spPr>
          <a:xfrm>
            <a:off x="914400" y="5669280"/>
            <a:ext cx="73152" cy="475488"/>
          </a:xfrm>
          <a:prstGeom prst="rect">
            <a:avLst/>
          </a:prstGeom>
          <a:solidFill>
            <a:srgbClr val="A65A00"/>
          </a:solidFill>
          <a:ln w="12700">
            <a:solidFill>
              <a:srgbClr val="A65A00"/>
            </a:solidFill>
            <a:prstDash val="solid"/>
          </a:ln>
        </p:spPr>
      </p:sp>
      <p:sp>
        <p:nvSpPr>
          <p:cNvPr id="11" name="Text 9"/>
          <p:cNvSpPr/>
          <p:nvPr/>
        </p:nvSpPr>
        <p:spPr>
          <a:xfrm>
            <a:off x="1033272" y="5669280"/>
            <a:ext cx="10122408" cy="475488"/>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Should the business focus only on Individuals, or also grow Corporate orders?</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8 — NumPy Summary Statistics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NumPy to describe the sales distribution.</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6263640" cy="434340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220" dirty="0">
                <a:solidFill>
                  <a:srgbClr val="111111"/>
                </a:solidFill>
                <a:latin typeface="Cascadia Mono" pitchFamily="34" charset="0"/>
                <a:ea typeface="Cascadia Mono" pitchFamily="34" charset="-122"/>
                <a:cs typeface="Cascadia Mono" pitchFamily="34" charset="-120"/>
              </a:rPr>
              <a:t>sales_mean = np.mean(df["Sales"])</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sales_median = np.median(df["Sales"])</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sales_std = np.std(df["Sales"])</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sales_quartiles = np.percentile(df["Sales"], [25, 50, 75])</a:t>
            </a:r>
            <a:endParaRPr lang="en-US" sz="1220" dirty="0"/>
          </a:p>
          <a:p>
            <a:pPr marL="0" indent="0">
              <a:buNone/>
            </a:pP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print("Mean:", sales_mean)</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print("Median:", sales_median)</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print("Std:", sales_std)</a:t>
            </a:r>
            <a:endParaRPr lang="en-US" sz="1220" dirty="0"/>
          </a:p>
          <a:p>
            <a:pPr marL="0" indent="0">
              <a:buNone/>
            </a:pPr>
            <a:r>
              <a:rPr lang="en-US" sz="1220" dirty="0">
                <a:solidFill>
                  <a:srgbClr val="111111"/>
                </a:solidFill>
                <a:latin typeface="Cascadia Mono" pitchFamily="34" charset="0"/>
                <a:ea typeface="Cascadia Mono" pitchFamily="34" charset="-122"/>
                <a:cs typeface="Cascadia Mono" pitchFamily="34" charset="-120"/>
              </a:rPr>
              <a:t>print("Quartiles:", sales_quartiles)</a:t>
            </a:r>
            <a:endParaRPr lang="en-US" sz="1220" dirty="0"/>
          </a:p>
        </p:txBody>
      </p:sp>
      <p:sp>
        <p:nvSpPr>
          <p:cNvPr id="7" name="Shape 5"/>
          <p:cNvSpPr/>
          <p:nvPr/>
        </p:nvSpPr>
        <p:spPr>
          <a:xfrm>
            <a:off x="7315200" y="1417320"/>
            <a:ext cx="73152" cy="1554480"/>
          </a:xfrm>
          <a:prstGeom prst="rect">
            <a:avLst/>
          </a:prstGeom>
          <a:solidFill>
            <a:srgbClr val="1F4E78"/>
          </a:solidFill>
          <a:ln w="12700">
            <a:solidFill>
              <a:srgbClr val="1F4E78"/>
            </a:solidFill>
            <a:prstDash val="solid"/>
          </a:ln>
        </p:spPr>
      </p:sp>
      <p:sp>
        <p:nvSpPr>
          <p:cNvPr id="8" name="Text 6"/>
          <p:cNvSpPr/>
          <p:nvPr/>
        </p:nvSpPr>
        <p:spPr>
          <a:xfrm>
            <a:off x="7434072" y="1417320"/>
            <a:ext cx="3858768" cy="15544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output</a:t>
            </a:r>
            <a:endParaRPr lang="en-US" sz="1220" dirty="0"/>
          </a:p>
          <a:p>
            <a:pPr marL="0" indent="0">
              <a:buNone/>
            </a:pPr>
            <a:r>
              <a:rPr lang="en-US" sz="1220" dirty="0">
                <a:solidFill>
                  <a:srgbClr val="151515"/>
                </a:solidFill>
              </a:rPr>
              <a:t>Mean ≈ 2363.19</a:t>
            </a:r>
            <a:endParaRPr lang="en-US" sz="1220" dirty="0"/>
          </a:p>
          <a:p>
            <a:pPr marL="0" indent="0">
              <a:buNone/>
            </a:pPr>
            <a:r>
              <a:rPr lang="en-US" sz="1220" dirty="0">
                <a:solidFill>
                  <a:srgbClr val="151515"/>
                </a:solidFill>
              </a:rPr>
              <a:t>Median ≈ 1218.40</a:t>
            </a:r>
            <a:endParaRPr lang="en-US" sz="1220" dirty="0"/>
          </a:p>
          <a:p>
            <a:pPr marL="0" indent="0">
              <a:buNone/>
            </a:pPr>
            <a:r>
              <a:rPr lang="en-US" sz="1220" dirty="0">
                <a:solidFill>
                  <a:srgbClr val="151515"/>
                </a:solidFill>
              </a:rPr>
              <a:t>Std ≈ 3232.65</a:t>
            </a:r>
            <a:endParaRPr lang="en-US" sz="1220" dirty="0"/>
          </a:p>
          <a:p>
            <a:pPr marL="0" indent="0">
              <a:buNone/>
            </a:pPr>
            <a:r>
              <a:rPr lang="en-US" sz="1220" dirty="0">
                <a:solidFill>
                  <a:srgbClr val="151515"/>
                </a:solidFill>
              </a:rPr>
              <a:t>Quartiles ≈ [161.34, 1218.40, 3050.96]</a:t>
            </a:r>
            <a:endParaRPr lang="en-US" sz="1220" dirty="0"/>
          </a:p>
        </p:txBody>
      </p:sp>
      <p:sp>
        <p:nvSpPr>
          <p:cNvPr id="9" name="Shape 7"/>
          <p:cNvSpPr/>
          <p:nvPr/>
        </p:nvSpPr>
        <p:spPr>
          <a:xfrm>
            <a:off x="7315200" y="3383280"/>
            <a:ext cx="73152" cy="1005840"/>
          </a:xfrm>
          <a:prstGeom prst="rect">
            <a:avLst/>
          </a:prstGeom>
          <a:solidFill>
            <a:srgbClr val="8B0E1A"/>
          </a:solidFill>
          <a:ln w="12700">
            <a:solidFill>
              <a:srgbClr val="8B0E1A"/>
            </a:solidFill>
            <a:prstDash val="solid"/>
          </a:ln>
        </p:spPr>
      </p:sp>
      <p:sp>
        <p:nvSpPr>
          <p:cNvPr id="10" name="Text 8"/>
          <p:cNvSpPr/>
          <p:nvPr/>
        </p:nvSpPr>
        <p:spPr>
          <a:xfrm>
            <a:off x="7434072" y="3383280"/>
            <a:ext cx="3858768" cy="10058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Interpretation</a:t>
            </a:r>
            <a:endParaRPr lang="en-US" sz="1220" dirty="0"/>
          </a:p>
          <a:p>
            <a:pPr marL="0" indent="0">
              <a:buNone/>
            </a:pPr>
            <a:r>
              <a:rPr lang="en-US" sz="1220" dirty="0">
                <a:solidFill>
                  <a:srgbClr val="151515"/>
                </a:solidFill>
              </a:rPr>
              <a:t>The mean is much larger than the median, so there are some large sales orders affecting the average.</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9 — Detect Quantity Outliers Using IQR</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Outliers are unusual values that may deserve business attention.</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6492240" cy="434340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250" dirty="0">
                <a:solidFill>
                  <a:srgbClr val="111111"/>
                </a:solidFill>
                <a:latin typeface="Cascadia Mono" pitchFamily="34" charset="0"/>
                <a:ea typeface="Cascadia Mono" pitchFamily="34" charset="-122"/>
                <a:cs typeface="Cascadia Mono" pitchFamily="34" charset="-120"/>
              </a:rPr>
              <a:t>Q1 = df["Quantity"].quantile(0.25)</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Q3 = df["Quantity"].quantile(0.75)</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IQR = Q3 - Q1</a:t>
            </a:r>
            <a:endParaRPr lang="en-US" sz="1250" dirty="0"/>
          </a:p>
          <a:p>
            <a:pPr marL="0" indent="0">
              <a:buNone/>
            </a:pP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upper_limit = Q3 + 1.5 * IQR</a:t>
            </a:r>
            <a:endParaRPr lang="en-US" sz="1250" dirty="0"/>
          </a:p>
          <a:p>
            <a:pPr marL="0" indent="0">
              <a:buNone/>
            </a:pP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outliers = df[df["Quantity"] &gt; upper_limit]</a:t>
            </a:r>
            <a:endParaRPr lang="en-US" sz="1250" dirty="0"/>
          </a:p>
          <a:p>
            <a:pPr marL="0" indent="0">
              <a:buNone/>
            </a:pP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outliers[["Order_ID", "Product", "Region", "Quantity", "Sales", "Profit"]]</a:t>
            </a:r>
            <a:endParaRPr lang="en-US" sz="1250" dirty="0"/>
          </a:p>
        </p:txBody>
      </p:sp>
      <p:sp>
        <p:nvSpPr>
          <p:cNvPr id="7" name="Shape 5"/>
          <p:cNvSpPr/>
          <p:nvPr/>
        </p:nvSpPr>
        <p:spPr>
          <a:xfrm>
            <a:off x="7543800" y="1417320"/>
            <a:ext cx="73152" cy="1005840"/>
          </a:xfrm>
          <a:prstGeom prst="rect">
            <a:avLst/>
          </a:prstGeom>
          <a:solidFill>
            <a:srgbClr val="1F4E78"/>
          </a:solidFill>
          <a:ln w="12700">
            <a:solidFill>
              <a:srgbClr val="1F4E78"/>
            </a:solidFill>
            <a:prstDash val="solid"/>
          </a:ln>
        </p:spPr>
      </p:sp>
      <p:sp>
        <p:nvSpPr>
          <p:cNvPr id="8" name="Text 6"/>
          <p:cNvSpPr/>
          <p:nvPr/>
        </p:nvSpPr>
        <p:spPr>
          <a:xfrm>
            <a:off x="7662672" y="1417320"/>
            <a:ext cx="3538728" cy="10058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result</a:t>
            </a:r>
            <a:endParaRPr lang="en-US" sz="1220" dirty="0"/>
          </a:p>
          <a:p>
            <a:pPr marL="0" indent="0">
              <a:buNone/>
            </a:pPr>
            <a:r>
              <a:rPr lang="en-US" sz="1220" dirty="0">
                <a:solidFill>
                  <a:srgbClr val="151515"/>
                </a:solidFill>
              </a:rPr>
              <a:t>Upper limit ≈ 8.5 units</a:t>
            </a:r>
            <a:endParaRPr lang="en-US" sz="1220" dirty="0"/>
          </a:p>
          <a:p>
            <a:pPr marL="0" indent="0">
              <a:buNone/>
            </a:pPr>
            <a:r>
              <a:rPr lang="en-US" sz="1220" dirty="0">
                <a:solidFill>
                  <a:srgbClr val="151515"/>
                </a:solidFill>
              </a:rPr>
              <a:t>Orders above this are unusually large for this dataset.</a:t>
            </a:r>
            <a:endParaRPr lang="en-US" sz="1220" dirty="0"/>
          </a:p>
        </p:txBody>
      </p:sp>
      <p:sp>
        <p:nvSpPr>
          <p:cNvPr id="9" name="Shape 7"/>
          <p:cNvSpPr/>
          <p:nvPr/>
        </p:nvSpPr>
        <p:spPr>
          <a:xfrm>
            <a:off x="7543800" y="2834640"/>
            <a:ext cx="73152" cy="1143000"/>
          </a:xfrm>
          <a:prstGeom prst="rect">
            <a:avLst/>
          </a:prstGeom>
          <a:solidFill>
            <a:srgbClr val="8B0E1A"/>
          </a:solidFill>
          <a:ln w="12700">
            <a:solidFill>
              <a:srgbClr val="8B0E1A"/>
            </a:solidFill>
            <a:prstDash val="solid"/>
          </a:ln>
        </p:spPr>
      </p:sp>
      <p:sp>
        <p:nvSpPr>
          <p:cNvPr id="10" name="Text 8"/>
          <p:cNvSpPr/>
          <p:nvPr/>
        </p:nvSpPr>
        <p:spPr>
          <a:xfrm>
            <a:off x="7662672" y="2834640"/>
            <a:ext cx="353872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What to explain</a:t>
            </a:r>
            <a:endParaRPr lang="en-US" sz="1220" dirty="0"/>
          </a:p>
          <a:p>
            <a:pPr marL="0" indent="0">
              <a:buNone/>
            </a:pPr>
            <a:r>
              <a:rPr lang="en-US" sz="1220" dirty="0">
                <a:solidFill>
                  <a:srgbClr val="151515"/>
                </a:solidFill>
              </a:rPr>
              <a:t>Outliers are not automatically mistakes. Some may be important business opportunities, such as large corporate purchases.</a:t>
            </a:r>
            <a:endParaRPr lang="en-US" sz="1220" dirty="0"/>
          </a:p>
        </p:txBody>
      </p:sp>
      <p:sp>
        <p:nvSpPr>
          <p:cNvPr id="11" name="Shape 9"/>
          <p:cNvSpPr/>
          <p:nvPr/>
        </p:nvSpPr>
        <p:spPr>
          <a:xfrm>
            <a:off x="7543800" y="4434840"/>
            <a:ext cx="73152" cy="777240"/>
          </a:xfrm>
          <a:prstGeom prst="rect">
            <a:avLst/>
          </a:prstGeom>
          <a:solidFill>
            <a:srgbClr val="A65A00"/>
          </a:solidFill>
          <a:ln w="12700">
            <a:solidFill>
              <a:srgbClr val="A65A00"/>
            </a:solidFill>
            <a:prstDash val="solid"/>
          </a:ln>
        </p:spPr>
      </p:sp>
      <p:sp>
        <p:nvSpPr>
          <p:cNvPr id="12" name="Text 10"/>
          <p:cNvSpPr/>
          <p:nvPr/>
        </p:nvSpPr>
        <p:spPr>
          <a:xfrm>
            <a:off x="7662672" y="4434840"/>
            <a:ext cx="353872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Discussion</a:t>
            </a:r>
            <a:endParaRPr lang="en-US" sz="1220" dirty="0"/>
          </a:p>
          <a:p>
            <a:pPr marL="0" indent="0">
              <a:buNone/>
            </a:pPr>
            <a:r>
              <a:rPr lang="en-US" sz="1220" dirty="0">
                <a:solidFill>
                  <a:srgbClr val="151515"/>
                </a:solidFill>
              </a:rPr>
              <a:t>Should the business investigate why these unusually large orders happened?</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10 — Correlation Analysis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Check relationships between numerical variables.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532120" cy="182880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correlation = df[["Sales", "Profit", "Quantity", "Discount"]].corr()</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correlation</a:t>
            </a:r>
            <a:endParaRPr lang="en-US" sz="1400" dirty="0"/>
          </a:p>
        </p:txBody>
      </p:sp>
      <p:sp>
        <p:nvSpPr>
          <p:cNvPr id="7" name="Text 5"/>
          <p:cNvSpPr/>
          <p:nvPr/>
        </p:nvSpPr>
        <p:spPr>
          <a:xfrm>
            <a:off x="6583680" y="1325880"/>
            <a:ext cx="4572000" cy="233172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050" dirty="0">
                <a:solidFill>
                  <a:srgbClr val="151515"/>
                </a:solidFill>
                <a:latin typeface="Cascadia Mono" pitchFamily="34" charset="0"/>
                <a:ea typeface="Cascadia Mono" pitchFamily="34" charset="-122"/>
                <a:cs typeface="Cascadia Mono" pitchFamily="34" charset="-120"/>
              </a:rPr>
              <a:t>          Sales  Profit  Quantity  Discount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 ────── ─────── ───────── ─────────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Sales     1.00   0.91    0.41      0.05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Profit    0.91   1.00    0.54      -0.10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Quantity  0.41   0.54    1.00      -0.08     </a:t>
            </a:r>
            <a:endParaRPr lang="en-US" sz="1050" dirty="0"/>
          </a:p>
          <a:p>
            <a:pPr marL="0" indent="0">
              <a:buNone/>
            </a:pPr>
            <a:r>
              <a:rPr lang="en-US" sz="1050" dirty="0">
                <a:solidFill>
                  <a:srgbClr val="151515"/>
                </a:solidFill>
                <a:latin typeface="Cascadia Mono" pitchFamily="34" charset="0"/>
                <a:ea typeface="Cascadia Mono" pitchFamily="34" charset="-122"/>
                <a:cs typeface="Cascadia Mono" pitchFamily="34" charset="-120"/>
              </a:rPr>
              <a:t>Discount  0.05   -0.10   -0.08     1.00      </a:t>
            </a:r>
            <a:endParaRPr lang="en-US" sz="1050" dirty="0"/>
          </a:p>
        </p:txBody>
      </p:sp>
      <p:sp>
        <p:nvSpPr>
          <p:cNvPr id="8" name="Shape 6"/>
          <p:cNvSpPr/>
          <p:nvPr/>
        </p:nvSpPr>
        <p:spPr>
          <a:xfrm>
            <a:off x="822960" y="3977640"/>
            <a:ext cx="73152" cy="914400"/>
          </a:xfrm>
          <a:prstGeom prst="rect">
            <a:avLst/>
          </a:prstGeom>
          <a:solidFill>
            <a:srgbClr val="8B0E1A"/>
          </a:solidFill>
          <a:ln w="12700">
            <a:solidFill>
              <a:srgbClr val="8B0E1A"/>
            </a:solidFill>
            <a:prstDash val="solid"/>
          </a:ln>
        </p:spPr>
      </p:sp>
      <p:sp>
        <p:nvSpPr>
          <p:cNvPr id="9" name="Text 7"/>
          <p:cNvSpPr/>
          <p:nvPr/>
        </p:nvSpPr>
        <p:spPr>
          <a:xfrm>
            <a:off x="941832" y="3977640"/>
            <a:ext cx="518464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Interpretation</a:t>
            </a:r>
            <a:endParaRPr lang="en-US" sz="1220" dirty="0"/>
          </a:p>
          <a:p>
            <a:pPr marL="0" indent="0">
              <a:buNone/>
            </a:pPr>
            <a:r>
              <a:rPr lang="en-US" sz="1220" dirty="0">
                <a:solidFill>
                  <a:srgbClr val="151515"/>
                </a:solidFill>
              </a:rPr>
              <a:t>Sales and Profit have a strong positive relationship. Discount has a small negative relationship with Profit in this dataset.</a:t>
            </a:r>
            <a:endParaRPr lang="en-US" sz="1220" dirty="0"/>
          </a:p>
        </p:txBody>
      </p:sp>
      <p:sp>
        <p:nvSpPr>
          <p:cNvPr id="10" name="Shape 8"/>
          <p:cNvSpPr/>
          <p:nvPr/>
        </p:nvSpPr>
        <p:spPr>
          <a:xfrm>
            <a:off x="6537960" y="3977640"/>
            <a:ext cx="73152" cy="914400"/>
          </a:xfrm>
          <a:prstGeom prst="rect">
            <a:avLst/>
          </a:prstGeom>
          <a:solidFill>
            <a:srgbClr val="A65A00"/>
          </a:solidFill>
          <a:ln w="12700">
            <a:solidFill>
              <a:srgbClr val="A65A00"/>
            </a:solidFill>
            <a:prstDash val="solid"/>
          </a:ln>
        </p:spPr>
      </p:sp>
      <p:sp>
        <p:nvSpPr>
          <p:cNvPr id="11" name="Text 9"/>
          <p:cNvSpPr/>
          <p:nvPr/>
        </p:nvSpPr>
        <p:spPr>
          <a:xfrm>
            <a:off x="6656832" y="3977640"/>
            <a:ext cx="445312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Important warning</a:t>
            </a:r>
            <a:endParaRPr lang="en-US" sz="1220" dirty="0"/>
          </a:p>
          <a:p>
            <a:pPr marL="0" indent="0">
              <a:buNone/>
            </a:pPr>
            <a:r>
              <a:rPr lang="en-US" sz="1220" dirty="0">
                <a:solidFill>
                  <a:srgbClr val="151515"/>
                </a:solidFill>
              </a:rPr>
              <a:t>Correlation does not prove causation. It only suggests a relationship worth exploring.</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11 — Bar Chart: Sales by Category</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Turn a grouped result into a visual comparison.</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715000" cy="38404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sales_by_category.plot(kind="bar")</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plt.title("Total Sales by Category")</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plt.xlabel("Category")</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plt.ylabel("Total Sales (RM)")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plt.xticks(rotation=0)</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plt.show()</a:t>
            </a:r>
            <a:endParaRPr lang="en-US" sz="1400" dirty="0"/>
          </a:p>
        </p:txBody>
      </p:sp>
      <p:graphicFrame>
        <p:nvGraphicFramePr>
          <p:cNvPr id="7" name="Chart 0"/>
          <p:cNvGraphicFramePr/>
          <p:nvPr/>
        </p:nvGraphicFramePr>
        <p:xfrm>
          <a:off x="6903720" y="1417320"/>
          <a:ext cx="41605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903720" y="4663440"/>
            <a:ext cx="73152" cy="685800"/>
          </a:xfrm>
          <a:prstGeom prst="rect">
            <a:avLst/>
          </a:prstGeom>
          <a:solidFill>
            <a:srgbClr val="8B0E1A"/>
          </a:solidFill>
          <a:ln w="12700">
            <a:solidFill>
              <a:srgbClr val="8B0E1A"/>
            </a:solidFill>
            <a:prstDash val="solid"/>
          </a:ln>
        </p:spPr>
      </p:sp>
      <p:sp>
        <p:nvSpPr>
          <p:cNvPr id="9" name="Text 6"/>
          <p:cNvSpPr/>
          <p:nvPr/>
        </p:nvSpPr>
        <p:spPr>
          <a:xfrm>
            <a:off x="7022592" y="4663440"/>
            <a:ext cx="4041648" cy="6858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Which category would management probably focus on first? Why?</a:t>
            </a:r>
            <a:endParaRPr lang="en-US" sz="12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12 — Histogram: Distribution of Sales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Show whether most sales are small, medium, or large.</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715000" cy="356616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plt.hist(df["Sales"], bins=10)</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plt.title("Distribution of Sales")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plt.xlabel("Sales (RM)")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plt.ylabel("Number of Orders")</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plt.show()</a:t>
            </a:r>
            <a:endParaRPr lang="en-US" sz="1400" dirty="0"/>
          </a:p>
        </p:txBody>
      </p:sp>
      <p:sp>
        <p:nvSpPr>
          <p:cNvPr id="7" name="Shape 5"/>
          <p:cNvSpPr/>
          <p:nvPr/>
        </p:nvSpPr>
        <p:spPr>
          <a:xfrm>
            <a:off x="6720840" y="1417320"/>
            <a:ext cx="73152" cy="1143000"/>
          </a:xfrm>
          <a:prstGeom prst="rect">
            <a:avLst/>
          </a:prstGeom>
          <a:solidFill>
            <a:srgbClr val="8B0E1A"/>
          </a:solidFill>
          <a:ln w="12700">
            <a:solidFill>
              <a:srgbClr val="8B0E1A"/>
            </a:solidFill>
            <a:prstDash val="solid"/>
          </a:ln>
        </p:spPr>
      </p:sp>
      <p:sp>
        <p:nvSpPr>
          <p:cNvPr id="8" name="Text 6"/>
          <p:cNvSpPr/>
          <p:nvPr/>
        </p:nvSpPr>
        <p:spPr>
          <a:xfrm>
            <a:off x="6839712" y="1417320"/>
            <a:ext cx="4361688" cy="11430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What to explain</a:t>
            </a:r>
            <a:endParaRPr lang="en-US" sz="1220" dirty="0"/>
          </a:p>
          <a:p>
            <a:pPr marL="0" indent="0">
              <a:buNone/>
            </a:pPr>
            <a:r>
              <a:rPr lang="en-US" sz="1220" dirty="0">
                <a:solidFill>
                  <a:srgbClr val="151515"/>
                </a:solidFill>
              </a:rPr>
              <a:t>A histogram shows how often different value ranges appear. Here, many orders are small, while fewer orders are very large.</a:t>
            </a:r>
            <a:endParaRPr lang="en-US" sz="1220" dirty="0"/>
          </a:p>
        </p:txBody>
      </p:sp>
      <p:sp>
        <p:nvSpPr>
          <p:cNvPr id="9" name="Shape 7"/>
          <p:cNvSpPr/>
          <p:nvPr/>
        </p:nvSpPr>
        <p:spPr>
          <a:xfrm>
            <a:off x="6720840" y="2971800"/>
            <a:ext cx="73152" cy="777240"/>
          </a:xfrm>
          <a:prstGeom prst="rect">
            <a:avLst/>
          </a:prstGeom>
          <a:solidFill>
            <a:srgbClr val="1F4E78"/>
          </a:solidFill>
          <a:ln w="12700">
            <a:solidFill>
              <a:srgbClr val="1F4E78"/>
            </a:solidFill>
            <a:prstDash val="solid"/>
          </a:ln>
        </p:spPr>
      </p:sp>
      <p:sp>
        <p:nvSpPr>
          <p:cNvPr id="10" name="Text 8"/>
          <p:cNvSpPr/>
          <p:nvPr/>
        </p:nvSpPr>
        <p:spPr>
          <a:xfrm>
            <a:off x="6839712" y="2971800"/>
            <a:ext cx="4361688" cy="7772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Connect to statistics</a:t>
            </a:r>
            <a:endParaRPr lang="en-US" sz="1220" dirty="0"/>
          </a:p>
          <a:p>
            <a:pPr marL="0" indent="0">
              <a:buNone/>
            </a:pPr>
            <a:r>
              <a:rPr lang="en-US" sz="1220" dirty="0">
                <a:solidFill>
                  <a:srgbClr val="151515"/>
                </a:solidFill>
              </a:rPr>
              <a:t>This explains why the mean sales value is much higher than the median.</a:t>
            </a:r>
            <a:endParaRPr lang="en-US" sz="1220" dirty="0"/>
          </a:p>
        </p:txBody>
      </p:sp>
      <p:sp>
        <p:nvSpPr>
          <p:cNvPr id="11" name="Shape 9"/>
          <p:cNvSpPr/>
          <p:nvPr/>
        </p:nvSpPr>
        <p:spPr>
          <a:xfrm>
            <a:off x="914400" y="5532120"/>
            <a:ext cx="73152" cy="594360"/>
          </a:xfrm>
          <a:prstGeom prst="rect">
            <a:avLst/>
          </a:prstGeom>
          <a:solidFill>
            <a:srgbClr val="A65A00"/>
          </a:solidFill>
          <a:ln w="12700">
            <a:solidFill>
              <a:srgbClr val="A65A00"/>
            </a:solidFill>
            <a:prstDash val="solid"/>
          </a:ln>
        </p:spPr>
      </p:sp>
      <p:sp>
        <p:nvSpPr>
          <p:cNvPr id="12" name="Text 10"/>
          <p:cNvSpPr/>
          <p:nvPr/>
        </p:nvSpPr>
        <p:spPr>
          <a:xfrm>
            <a:off x="1033272" y="5532120"/>
            <a:ext cx="10076688" cy="5943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Is this a normal pattern for retail sales? Why might a business have many small orders and a few very large orders?</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13 — Boxplot: Quantity Outliers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A boxplot helps students see unusual values quickly.</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166360" cy="31546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500" dirty="0">
                <a:solidFill>
                  <a:srgbClr val="111111"/>
                </a:solidFill>
                <a:latin typeface="Cascadia Mono" pitchFamily="34" charset="0"/>
                <a:ea typeface="Cascadia Mono" pitchFamily="34" charset="-122"/>
                <a:cs typeface="Cascadia Mono" pitchFamily="34" charset="-120"/>
              </a:rPr>
              <a:t>plt.boxplot(df["Quantity"])</a:t>
            </a:r>
            <a:endParaRPr lang="en-US" sz="1500" dirty="0"/>
          </a:p>
          <a:p>
            <a:pPr marL="0" indent="0">
              <a:buNone/>
            </a:pPr>
            <a:endParaRPr lang="en-US" sz="1500" dirty="0"/>
          </a:p>
          <a:p>
            <a:pPr marL="0" indent="0">
              <a:buNone/>
            </a:pPr>
            <a:r>
              <a:rPr lang="en-US" sz="1500" dirty="0">
                <a:solidFill>
                  <a:srgbClr val="111111"/>
                </a:solidFill>
                <a:latin typeface="Cascadia Mono" pitchFamily="34" charset="0"/>
                <a:ea typeface="Cascadia Mono" pitchFamily="34" charset="-122"/>
                <a:cs typeface="Cascadia Mono" pitchFamily="34" charset="-120"/>
              </a:rPr>
              <a:t>plt.title("Quantity Outlier Check")</a:t>
            </a:r>
            <a:endParaRPr lang="en-US" sz="1500" dirty="0"/>
          </a:p>
          <a:p>
            <a:pPr marL="0" indent="0">
              <a:buNone/>
            </a:pPr>
            <a:r>
              <a:rPr lang="en-US" sz="1500" dirty="0">
                <a:solidFill>
                  <a:srgbClr val="111111"/>
                </a:solidFill>
                <a:latin typeface="Cascadia Mono" pitchFamily="34" charset="0"/>
                <a:ea typeface="Cascadia Mono" pitchFamily="34" charset="-122"/>
                <a:cs typeface="Cascadia Mono" pitchFamily="34" charset="-120"/>
              </a:rPr>
              <a:t>plt.ylabel("Quantity")</a:t>
            </a:r>
            <a:endParaRPr lang="en-US" sz="1500" dirty="0"/>
          </a:p>
          <a:p>
            <a:pPr marL="0" indent="0">
              <a:buNone/>
            </a:pPr>
            <a:r>
              <a:rPr lang="en-US" sz="1500" dirty="0">
                <a:solidFill>
                  <a:srgbClr val="111111"/>
                </a:solidFill>
                <a:latin typeface="Cascadia Mono" pitchFamily="34" charset="0"/>
                <a:ea typeface="Cascadia Mono" pitchFamily="34" charset="-122"/>
                <a:cs typeface="Cascadia Mono" pitchFamily="34" charset="-120"/>
              </a:rPr>
              <a:t>plt.show()</a:t>
            </a:r>
            <a:endParaRPr lang="en-US" sz="1500" dirty="0"/>
          </a:p>
        </p:txBody>
      </p:sp>
      <p:sp>
        <p:nvSpPr>
          <p:cNvPr id="7" name="Shape 5"/>
          <p:cNvSpPr/>
          <p:nvPr/>
        </p:nvSpPr>
        <p:spPr>
          <a:xfrm>
            <a:off x="6217920" y="1417320"/>
            <a:ext cx="73152" cy="914400"/>
          </a:xfrm>
          <a:prstGeom prst="rect">
            <a:avLst/>
          </a:prstGeom>
          <a:solidFill>
            <a:srgbClr val="1F4E78"/>
          </a:solidFill>
          <a:ln w="12700">
            <a:solidFill>
              <a:srgbClr val="1F4E78"/>
            </a:solidFill>
            <a:prstDash val="solid"/>
          </a:ln>
        </p:spPr>
      </p:sp>
      <p:sp>
        <p:nvSpPr>
          <p:cNvPr id="8" name="Text 6"/>
          <p:cNvSpPr/>
          <p:nvPr/>
        </p:nvSpPr>
        <p:spPr>
          <a:xfrm>
            <a:off x="6336792" y="1417320"/>
            <a:ext cx="445312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What students should see</a:t>
            </a:r>
            <a:endParaRPr lang="en-US" sz="1220" dirty="0"/>
          </a:p>
          <a:p>
            <a:pPr marL="0" indent="0">
              <a:buNone/>
            </a:pPr>
            <a:r>
              <a:rPr lang="en-US" sz="1220" dirty="0">
                <a:solidFill>
                  <a:srgbClr val="151515"/>
                </a:solidFill>
              </a:rPr>
              <a:t>Most orders have low quantities. A few points are far above the usual range.</a:t>
            </a:r>
            <a:endParaRPr lang="en-US" sz="1220" dirty="0"/>
          </a:p>
        </p:txBody>
      </p:sp>
      <p:sp>
        <p:nvSpPr>
          <p:cNvPr id="9" name="Shape 7"/>
          <p:cNvSpPr/>
          <p:nvPr/>
        </p:nvSpPr>
        <p:spPr>
          <a:xfrm>
            <a:off x="6217920" y="2743200"/>
            <a:ext cx="73152" cy="960120"/>
          </a:xfrm>
          <a:prstGeom prst="rect">
            <a:avLst/>
          </a:prstGeom>
          <a:solidFill>
            <a:srgbClr val="8B0E1A"/>
          </a:solidFill>
          <a:ln w="12700">
            <a:solidFill>
              <a:srgbClr val="8B0E1A"/>
            </a:solidFill>
            <a:prstDash val="solid"/>
          </a:ln>
        </p:spPr>
      </p:sp>
      <p:sp>
        <p:nvSpPr>
          <p:cNvPr id="10" name="Text 8"/>
          <p:cNvSpPr/>
          <p:nvPr/>
        </p:nvSpPr>
        <p:spPr>
          <a:xfrm>
            <a:off x="6336792" y="2743200"/>
            <a:ext cx="4453128" cy="9601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Business meaning</a:t>
            </a:r>
            <a:endParaRPr lang="en-US" sz="1220" dirty="0"/>
          </a:p>
          <a:p>
            <a:pPr marL="0" indent="0">
              <a:buNone/>
            </a:pPr>
            <a:r>
              <a:rPr lang="en-US" sz="1220" dirty="0">
                <a:solidFill>
                  <a:srgbClr val="151515"/>
                </a:solidFill>
              </a:rPr>
              <a:t>Outliers can reveal bulk purchases, special events, corporate orders, or possible data entry problems.</a:t>
            </a:r>
            <a:endParaRPr lang="en-US" sz="12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14 — Scatter Plot: Sales vs Profit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Visualise the relationship between two numerical variables.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5715000" cy="356616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plt.scatter(df["Sales"], df["Profit"])</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plt.title("Sales vs Profit")</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plt.xlabel("Sales (RM)")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plt.ylabel("Profit (RM)")</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plt.show()</a:t>
            </a:r>
            <a:endParaRPr lang="en-US" sz="1400" dirty="0"/>
          </a:p>
        </p:txBody>
      </p:sp>
      <p:sp>
        <p:nvSpPr>
          <p:cNvPr id="7" name="Shape 5"/>
          <p:cNvSpPr/>
          <p:nvPr/>
        </p:nvSpPr>
        <p:spPr>
          <a:xfrm>
            <a:off x="6720840" y="1417320"/>
            <a:ext cx="73152" cy="914400"/>
          </a:xfrm>
          <a:prstGeom prst="rect">
            <a:avLst/>
          </a:prstGeom>
          <a:solidFill>
            <a:srgbClr val="1F4E78"/>
          </a:solidFill>
          <a:ln w="12700">
            <a:solidFill>
              <a:srgbClr val="1F4E78"/>
            </a:solidFill>
            <a:prstDash val="solid"/>
          </a:ln>
        </p:spPr>
      </p:sp>
      <p:sp>
        <p:nvSpPr>
          <p:cNvPr id="8" name="Text 6"/>
          <p:cNvSpPr/>
          <p:nvPr/>
        </p:nvSpPr>
        <p:spPr>
          <a:xfrm>
            <a:off x="6839712" y="1417320"/>
            <a:ext cx="436168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pattern</a:t>
            </a:r>
            <a:endParaRPr lang="en-US" sz="1220" dirty="0"/>
          </a:p>
          <a:p>
            <a:pPr marL="0" indent="0">
              <a:buNone/>
            </a:pPr>
            <a:r>
              <a:rPr lang="en-US" sz="1220" dirty="0">
                <a:solidFill>
                  <a:srgbClr val="151515"/>
                </a:solidFill>
              </a:rPr>
              <a:t>As sales increase, profit generally increases too. This matches the strong positive correlation.</a:t>
            </a:r>
            <a:endParaRPr lang="en-US" sz="1220" dirty="0"/>
          </a:p>
        </p:txBody>
      </p:sp>
      <p:sp>
        <p:nvSpPr>
          <p:cNvPr id="9" name="Shape 7"/>
          <p:cNvSpPr/>
          <p:nvPr/>
        </p:nvSpPr>
        <p:spPr>
          <a:xfrm>
            <a:off x="6720840" y="2743200"/>
            <a:ext cx="73152" cy="914400"/>
          </a:xfrm>
          <a:prstGeom prst="rect">
            <a:avLst/>
          </a:prstGeom>
          <a:solidFill>
            <a:srgbClr val="A65A00"/>
          </a:solidFill>
          <a:ln w="12700">
            <a:solidFill>
              <a:srgbClr val="A65A00"/>
            </a:solidFill>
            <a:prstDash val="solid"/>
          </a:ln>
        </p:spPr>
      </p:sp>
      <p:sp>
        <p:nvSpPr>
          <p:cNvPr id="10" name="Text 8"/>
          <p:cNvSpPr/>
          <p:nvPr/>
        </p:nvSpPr>
        <p:spPr>
          <a:xfrm>
            <a:off x="6839712" y="2743200"/>
            <a:ext cx="436168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Ask the class</a:t>
            </a:r>
            <a:endParaRPr lang="en-US" sz="1220" dirty="0"/>
          </a:p>
          <a:p>
            <a:pPr marL="0" indent="0">
              <a:buNone/>
            </a:pPr>
            <a:r>
              <a:rPr lang="en-US" sz="1220" dirty="0">
                <a:solidFill>
                  <a:srgbClr val="151515"/>
                </a:solidFill>
              </a:rPr>
              <a:t>Are there any high-sales orders with lower-than-expected profit? What might explain that?</a:t>
            </a:r>
            <a:endParaRPr lang="en-US" sz="1220" dirty="0"/>
          </a:p>
        </p:txBody>
      </p:sp>
      <p:sp>
        <p:nvSpPr>
          <p:cNvPr id="11" name="Shape 9"/>
          <p:cNvSpPr/>
          <p:nvPr/>
        </p:nvSpPr>
        <p:spPr>
          <a:xfrm>
            <a:off x="914400" y="5532120"/>
            <a:ext cx="73152" cy="548640"/>
          </a:xfrm>
          <a:prstGeom prst="rect">
            <a:avLst/>
          </a:prstGeom>
          <a:solidFill>
            <a:srgbClr val="8B0E1A"/>
          </a:solidFill>
          <a:ln w="12700">
            <a:solidFill>
              <a:srgbClr val="8B0E1A"/>
            </a:solidFill>
            <a:prstDash val="solid"/>
          </a:ln>
        </p:spPr>
      </p:sp>
      <p:sp>
        <p:nvSpPr>
          <p:cNvPr id="12" name="Text 10"/>
          <p:cNvSpPr/>
          <p:nvPr/>
        </p:nvSpPr>
        <p:spPr>
          <a:xfrm>
            <a:off x="1033272" y="5532120"/>
            <a:ext cx="10076688" cy="54864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A chart should always lead to an interpretation, not just a picture.</a:t>
            </a:r>
            <a:endParaRPr lang="en-US" sz="12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Code 15 — Export Clean Dataset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Optional but useful before students start capstone work.</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417320"/>
            <a:ext cx="5943600" cy="214884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400" dirty="0">
                <a:solidFill>
                  <a:srgbClr val="111111"/>
                </a:solidFill>
                <a:latin typeface="Cascadia Mono" pitchFamily="34" charset="0"/>
                <a:ea typeface="Cascadia Mono" pitchFamily="34" charset="-122"/>
                <a:cs typeface="Cascadia Mono" pitchFamily="34" charset="-120"/>
              </a:rPr>
              <a:t># Save the cleaned version for later use</a:t>
            </a: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df.to_csv("TensorOrbit_Day3_Retail_Sales_CLEAN.csv", index=False)</a:t>
            </a:r>
            <a:endParaRPr lang="en-US" sz="1400" dirty="0"/>
          </a:p>
          <a:p>
            <a:pPr marL="0" indent="0">
              <a:buNone/>
            </a:pPr>
            <a:endParaRPr lang="en-US" sz="1400" dirty="0"/>
          </a:p>
          <a:p>
            <a:pPr marL="0" indent="0">
              <a:buNone/>
            </a:pPr>
            <a:r>
              <a:rPr lang="en-US" sz="1400" dirty="0">
                <a:solidFill>
                  <a:srgbClr val="111111"/>
                </a:solidFill>
                <a:latin typeface="Cascadia Mono" pitchFamily="34" charset="0"/>
                <a:ea typeface="Cascadia Mono" pitchFamily="34" charset="-122"/>
                <a:cs typeface="Cascadia Mono" pitchFamily="34" charset="-120"/>
              </a:rPr>
              <a:t>print("Clean dataset saved successfully.")</a:t>
            </a:r>
            <a:endParaRPr lang="en-US" sz="1400" dirty="0"/>
          </a:p>
        </p:txBody>
      </p:sp>
      <p:sp>
        <p:nvSpPr>
          <p:cNvPr id="7" name="Shape 5"/>
          <p:cNvSpPr/>
          <p:nvPr/>
        </p:nvSpPr>
        <p:spPr>
          <a:xfrm>
            <a:off x="6995160" y="1417320"/>
            <a:ext cx="73152" cy="1051560"/>
          </a:xfrm>
          <a:prstGeom prst="rect">
            <a:avLst/>
          </a:prstGeom>
          <a:solidFill>
            <a:srgbClr val="8B0E1A"/>
          </a:solidFill>
          <a:ln w="12700">
            <a:solidFill>
              <a:srgbClr val="8B0E1A"/>
            </a:solidFill>
            <a:prstDash val="solid"/>
          </a:ln>
        </p:spPr>
      </p:sp>
      <p:sp>
        <p:nvSpPr>
          <p:cNvPr id="8" name="Text 6"/>
          <p:cNvSpPr/>
          <p:nvPr/>
        </p:nvSpPr>
        <p:spPr>
          <a:xfrm>
            <a:off x="7114032" y="1417320"/>
            <a:ext cx="4041648" cy="10515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What to explain</a:t>
            </a:r>
            <a:endParaRPr lang="en-US" sz="1220" dirty="0"/>
          </a:p>
          <a:p>
            <a:pPr marL="0" indent="0">
              <a:buNone/>
            </a:pPr>
            <a:r>
              <a:rPr lang="en-US" sz="1220" dirty="0">
                <a:solidFill>
                  <a:srgbClr val="151515"/>
                </a:solidFill>
              </a:rPr>
              <a:t>After cleaning, analysts often save a clean copy so they do not repeat the cleaning work every time.</a:t>
            </a:r>
            <a:endParaRPr lang="en-US" sz="1220" dirty="0"/>
          </a:p>
        </p:txBody>
      </p:sp>
      <p:sp>
        <p:nvSpPr>
          <p:cNvPr id="9" name="Shape 7"/>
          <p:cNvSpPr/>
          <p:nvPr/>
        </p:nvSpPr>
        <p:spPr>
          <a:xfrm>
            <a:off x="6995160" y="2880360"/>
            <a:ext cx="73152" cy="868680"/>
          </a:xfrm>
          <a:prstGeom prst="rect">
            <a:avLst/>
          </a:prstGeom>
          <a:solidFill>
            <a:srgbClr val="A65A00"/>
          </a:solidFill>
          <a:ln w="12700">
            <a:solidFill>
              <a:srgbClr val="A65A00"/>
            </a:solidFill>
            <a:prstDash val="solid"/>
          </a:ln>
        </p:spPr>
      </p:sp>
      <p:sp>
        <p:nvSpPr>
          <p:cNvPr id="10" name="Text 8"/>
          <p:cNvSpPr/>
          <p:nvPr/>
        </p:nvSpPr>
        <p:spPr>
          <a:xfrm>
            <a:off x="7114032" y="2880360"/>
            <a:ext cx="4041648" cy="86868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Classroom tip</a:t>
            </a:r>
            <a:endParaRPr lang="en-US" sz="1220" dirty="0"/>
          </a:p>
          <a:p>
            <a:pPr marL="0" indent="0">
              <a:buNone/>
            </a:pPr>
            <a:r>
              <a:rPr lang="en-US" sz="1220" dirty="0">
                <a:solidFill>
                  <a:srgbClr val="151515"/>
                </a:solidFill>
              </a:rPr>
              <a:t>If time is tight, skip running this code during the walkthrough and keep it as a reference slide.</a:t>
            </a:r>
            <a:endParaRPr lang="en-US" sz="1220" dirty="0"/>
          </a:p>
        </p:txBody>
      </p:sp>
      <p:sp>
        <p:nvSpPr>
          <p:cNvPr id="11" name="Text 9"/>
          <p:cNvSpPr/>
          <p:nvPr/>
        </p:nvSpPr>
        <p:spPr>
          <a:xfrm>
            <a:off x="914400" y="5166360"/>
            <a:ext cx="10149840" cy="59436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Raw Data   →   Cleaning Steps   →   Clean Data   →   Analysis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Turn Code Output into Business Findings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This is the key bridge between Python and capstone presentation.</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325880"/>
            <a:ext cx="10789920" cy="3977640"/>
          </a:xfrm>
          <a:prstGeom prst="rect">
            <a:avLst/>
          </a:prstGeom>
          <a:solidFill>
            <a:srgbClr val="FFFFFF"/>
          </a:solidFill>
          <a:ln w="8890">
            <a:solidFill>
              <a:srgbClr val="D0D0D0"/>
            </a:solidFill>
          </a:ln>
        </p:spPr>
        <p:txBody>
          <a:bodyPr wrap="square" lIns="1270" tIns="1270" rIns="1270" bIns="1270" rtlCol="0" anchor="t">
            <a:normAutofit/>
          </a:bodyPr>
          <a:lstStyle/>
          <a:p>
            <a:pPr marL="0" indent="0">
              <a:buNone/>
            </a:pPr>
            <a:r>
              <a:rPr lang="en-US" sz="1200" dirty="0">
                <a:solidFill>
                  <a:srgbClr val="151515"/>
                </a:solidFill>
                <a:latin typeface="Cascadia Mono" pitchFamily="34" charset="0"/>
                <a:ea typeface="Cascadia Mono" pitchFamily="34" charset="-122"/>
                <a:cs typeface="Cascadia Mono" pitchFamily="34" charset="-120"/>
              </a:rPr>
              <a:t>Python Output               Pattern                          Business Finding                                               </a:t>
            </a:r>
            <a:endParaRPr lang="en-US" sz="1200" dirty="0"/>
          </a:p>
          <a:p>
            <a:r>
              <a:rPr lang="en-US" sz="1200" dirty="0">
                <a:solidFill>
                  <a:srgbClr val="151515"/>
                </a:solidFill>
                <a:latin typeface="Cascadia Mono" pitchFamily="34" charset="0"/>
                <a:ea typeface="Cascadia Mono" pitchFamily="34" charset="-122"/>
                <a:cs typeface="Cascadia Mono" pitchFamily="34" charset="-120"/>
              </a:rPr>
              <a:t>─────────────────────────── ──────────────────────────────── ────────────────────────────────</a:t>
            </a:r>
          </a:p>
          <a:p>
            <a:pPr marL="0" indent="0">
              <a:buNone/>
            </a:pPr>
            <a:r>
              <a:rPr lang="en-US" sz="1200" dirty="0">
                <a:solidFill>
                  <a:srgbClr val="151515"/>
                </a:solidFill>
                <a:latin typeface="Cascadia Mono" pitchFamily="34" charset="0"/>
                <a:ea typeface="Cascadia Mono" pitchFamily="34" charset="-122"/>
                <a:cs typeface="Cascadia Mono" pitchFamily="34" charset="-120"/>
              </a:rPr>
              <a:t>Technology sales = RM174k   One category clearly leads       Technology is the strongest revenue driver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Central profit = RM29k      One region clearly leads         Central is the most profitable region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Mean &gt; Median               Few large orders affect average  The business has many small orders and a few large orders      </a:t>
            </a:r>
            <a:endParaRPr lang="en-US" sz="1200" dirty="0"/>
          </a:p>
          <a:p>
            <a:pPr marL="0" indent="0">
              <a:buNone/>
            </a:pPr>
            <a:r>
              <a:rPr lang="en-US" sz="1200" dirty="0">
                <a:solidFill>
                  <a:srgbClr val="151515"/>
                </a:solidFill>
                <a:latin typeface="Cascadia Mono" pitchFamily="34" charset="0"/>
                <a:ea typeface="Cascadia Mono" pitchFamily="34" charset="-122"/>
                <a:cs typeface="Cascadia Mono" pitchFamily="34" charset="-120"/>
              </a:rPr>
              <a:t>Discount vs Profit = -0.10  Weak negative relationship       Discounts may slightly reduce profit but need deeper analysis  </a:t>
            </a:r>
            <a:endParaRPr lang="en-US" sz="1200" dirty="0"/>
          </a:p>
        </p:txBody>
      </p:sp>
      <p:sp>
        <p:nvSpPr>
          <p:cNvPr id="7" name="Shape 5"/>
          <p:cNvSpPr/>
          <p:nvPr/>
        </p:nvSpPr>
        <p:spPr>
          <a:xfrm>
            <a:off x="914400" y="5623560"/>
            <a:ext cx="73152" cy="502920"/>
          </a:xfrm>
          <a:prstGeom prst="rect">
            <a:avLst/>
          </a:prstGeom>
          <a:solidFill>
            <a:srgbClr val="8B0E1A"/>
          </a:solidFill>
          <a:ln w="12700">
            <a:solidFill>
              <a:srgbClr val="8B0E1A"/>
            </a:solidFill>
            <a:prstDash val="solid"/>
          </a:ln>
        </p:spPr>
      </p:sp>
      <p:sp>
        <p:nvSpPr>
          <p:cNvPr id="8" name="Text 6"/>
          <p:cNvSpPr/>
          <p:nvPr/>
        </p:nvSpPr>
        <p:spPr>
          <a:xfrm>
            <a:off x="1033272" y="5623560"/>
            <a:ext cx="10030968" cy="5029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“Do not present only code. Present what the code means for the business.”</a:t>
            </a:r>
            <a:endParaRPr lang="en-US" sz="12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Example Final Recommendation</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Show students the level of answer expected from their capstone.</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Shape 4"/>
          <p:cNvSpPr/>
          <p:nvPr/>
        </p:nvSpPr>
        <p:spPr>
          <a:xfrm>
            <a:off x="777240" y="1325880"/>
            <a:ext cx="73152" cy="914400"/>
          </a:xfrm>
          <a:prstGeom prst="rect">
            <a:avLst/>
          </a:prstGeom>
          <a:solidFill>
            <a:srgbClr val="1F4E78"/>
          </a:solidFill>
          <a:ln w="12700">
            <a:solidFill>
              <a:srgbClr val="1F4E78"/>
            </a:solidFill>
            <a:prstDash val="solid"/>
          </a:ln>
        </p:spPr>
      </p:sp>
      <p:sp>
        <p:nvSpPr>
          <p:cNvPr id="7" name="Text 5"/>
          <p:cNvSpPr/>
          <p:nvPr/>
        </p:nvSpPr>
        <p:spPr>
          <a:xfrm>
            <a:off x="896112" y="1325880"/>
            <a:ext cx="335584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 1</a:t>
            </a:r>
            <a:endParaRPr lang="en-US" sz="1220" dirty="0"/>
          </a:p>
          <a:p>
            <a:pPr marL="0" indent="0">
              <a:buNone/>
            </a:pPr>
            <a:r>
              <a:rPr lang="en-US" sz="1220" dirty="0">
                <a:solidFill>
                  <a:srgbClr val="151515"/>
                </a:solidFill>
              </a:rPr>
              <a:t>Technology generated the highest sales and the highest total profit.</a:t>
            </a:r>
            <a:endParaRPr lang="en-US" sz="1220" dirty="0"/>
          </a:p>
        </p:txBody>
      </p:sp>
      <p:sp>
        <p:nvSpPr>
          <p:cNvPr id="8" name="Shape 6"/>
          <p:cNvSpPr/>
          <p:nvPr/>
        </p:nvSpPr>
        <p:spPr>
          <a:xfrm>
            <a:off x="4526280" y="1325880"/>
            <a:ext cx="73152" cy="914400"/>
          </a:xfrm>
          <a:prstGeom prst="rect">
            <a:avLst/>
          </a:prstGeom>
          <a:solidFill>
            <a:srgbClr val="1F4E78"/>
          </a:solidFill>
          <a:ln w="12700">
            <a:solidFill>
              <a:srgbClr val="1F4E78"/>
            </a:solidFill>
            <a:prstDash val="solid"/>
          </a:ln>
        </p:spPr>
      </p:sp>
      <p:sp>
        <p:nvSpPr>
          <p:cNvPr id="9" name="Text 7"/>
          <p:cNvSpPr/>
          <p:nvPr/>
        </p:nvSpPr>
        <p:spPr>
          <a:xfrm>
            <a:off x="4645152" y="1325880"/>
            <a:ext cx="335584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 2</a:t>
            </a:r>
            <a:endParaRPr lang="en-US" sz="1220" dirty="0"/>
          </a:p>
          <a:p>
            <a:pPr marL="0" indent="0">
              <a:buNone/>
            </a:pPr>
            <a:r>
              <a:rPr lang="en-US" sz="1220" dirty="0">
                <a:solidFill>
                  <a:srgbClr val="151515"/>
                </a:solidFill>
              </a:rPr>
              <a:t>Central region is the strongest region by both sales and profit.</a:t>
            </a:r>
            <a:endParaRPr lang="en-US" sz="1220" dirty="0"/>
          </a:p>
        </p:txBody>
      </p:sp>
      <p:sp>
        <p:nvSpPr>
          <p:cNvPr id="10" name="Shape 8"/>
          <p:cNvSpPr/>
          <p:nvPr/>
        </p:nvSpPr>
        <p:spPr>
          <a:xfrm>
            <a:off x="8275320" y="1325880"/>
            <a:ext cx="73152" cy="914400"/>
          </a:xfrm>
          <a:prstGeom prst="rect">
            <a:avLst/>
          </a:prstGeom>
          <a:solidFill>
            <a:srgbClr val="1F4E78"/>
          </a:solidFill>
          <a:ln w="12700">
            <a:solidFill>
              <a:srgbClr val="1F4E78"/>
            </a:solidFill>
            <a:prstDash val="solid"/>
          </a:ln>
        </p:spPr>
      </p:sp>
      <p:sp>
        <p:nvSpPr>
          <p:cNvPr id="11" name="Text 9"/>
          <p:cNvSpPr/>
          <p:nvPr/>
        </p:nvSpPr>
        <p:spPr>
          <a:xfrm>
            <a:off x="8394192" y="1325880"/>
            <a:ext cx="3127248" cy="9144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Finding 3</a:t>
            </a:r>
            <a:endParaRPr lang="en-US" sz="1220" dirty="0"/>
          </a:p>
          <a:p>
            <a:pPr marL="0" indent="0">
              <a:buNone/>
            </a:pPr>
            <a:r>
              <a:rPr lang="en-US" sz="1220" dirty="0">
                <a:solidFill>
                  <a:srgbClr val="151515"/>
                </a:solidFill>
              </a:rPr>
              <a:t>Many orders are small, but a few unusually large orders strongly influence average sales.</a:t>
            </a:r>
            <a:endParaRPr lang="en-US" sz="1220" dirty="0"/>
          </a:p>
        </p:txBody>
      </p:sp>
      <p:sp>
        <p:nvSpPr>
          <p:cNvPr id="12" name="Text 10"/>
          <p:cNvSpPr/>
          <p:nvPr/>
        </p:nvSpPr>
        <p:spPr>
          <a:xfrm>
            <a:off x="914400" y="2971800"/>
            <a:ext cx="10241280" cy="320040"/>
          </a:xfrm>
          <a:prstGeom prst="rect">
            <a:avLst/>
          </a:prstGeom>
          <a:noFill/>
          <a:ln/>
        </p:spPr>
        <p:txBody>
          <a:bodyPr wrap="square" lIns="0" tIns="0" rIns="0" bIns="0" rtlCol="0" anchor="ctr"/>
          <a:lstStyle/>
          <a:p>
            <a:pPr marL="0" indent="0">
              <a:buNone/>
            </a:pPr>
            <a:r>
              <a:rPr lang="en-US" sz="2100" b="1" dirty="0">
                <a:solidFill>
                  <a:srgbClr val="8B0E1A"/>
                </a:solidFill>
              </a:rPr>
              <a:t>Recommended business action</a:t>
            </a:r>
            <a:endParaRPr lang="en-US" sz="2100" dirty="0"/>
          </a:p>
        </p:txBody>
      </p:sp>
      <p:sp>
        <p:nvSpPr>
          <p:cNvPr id="13" name="Text 11"/>
          <p:cNvSpPr/>
          <p:nvPr/>
        </p:nvSpPr>
        <p:spPr>
          <a:xfrm>
            <a:off x="914400" y="3520440"/>
            <a:ext cx="10149840" cy="1463040"/>
          </a:xfrm>
          <a:prstGeom prst="rect">
            <a:avLst/>
          </a:prstGeom>
          <a:noFill/>
          <a:ln/>
        </p:spPr>
        <p:txBody>
          <a:bodyPr wrap="square" lIns="635" tIns="635" rIns="635" bIns="635" rtlCol="0" anchor="ctr">
            <a:normAutofit/>
          </a:bodyPr>
          <a:lstStyle/>
          <a:p>
            <a:pPr marL="0" indent="0">
              <a:buNone/>
            </a:pPr>
            <a:r>
              <a:rPr lang="en-US" sz="1900" dirty="0">
                <a:solidFill>
                  <a:srgbClr val="151515"/>
                </a:solidFill>
              </a:rPr>
              <a:t>The company should prioritise Technology products and study the Central region strategy, then apply similar sales approaches to weaker regions. At the same time, it should investigate unusually large quantity orders because they may reveal bulk-purchase opportunities.</a:t>
            </a:r>
            <a:endParaRPr lang="en-US" sz="1900" dirty="0"/>
          </a:p>
        </p:txBody>
      </p:sp>
      <p:sp>
        <p:nvSpPr>
          <p:cNvPr id="14" name="Text 12"/>
          <p:cNvSpPr/>
          <p:nvPr/>
        </p:nvSpPr>
        <p:spPr>
          <a:xfrm>
            <a:off x="914400" y="5532120"/>
            <a:ext cx="10149840" cy="59436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Evidence   →   Pattern   →   Finding   →   Recommendation</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Capstone Brief — Student Task</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Now students apply the same process with their team dataset.</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868680" y="1325880"/>
            <a:ext cx="6080760" cy="4023360"/>
          </a:xfrm>
          <a:prstGeom prst="rect">
            <a:avLst/>
          </a:prstGeom>
          <a:noFill/>
          <a:ln/>
        </p:spPr>
        <p:txBody>
          <a:bodyPr wrap="square" lIns="762" tIns="762" rIns="762" bIns="762" rtlCol="0" anchor="ctr">
            <a:normAutofit/>
          </a:bodyPr>
          <a:lstStyle/>
          <a:p>
            <a:r>
              <a:rPr lang="en-US" sz="1600" dirty="0">
                <a:solidFill>
                  <a:srgbClr val="151515"/>
                </a:solidFill>
              </a:rPr>
              <a:t>Choose a business question from the dataset.</a:t>
            </a:r>
            <a:endParaRPr lang="en-US" sz="1600" dirty="0"/>
          </a:p>
          <a:p>
            <a:r>
              <a:rPr lang="en-US" sz="1600" dirty="0">
                <a:solidFill>
                  <a:srgbClr val="151515"/>
                </a:solidFill>
              </a:rPr>
              <a:t>Clean the data: missing values, duplicates, basic data types.</a:t>
            </a:r>
            <a:endParaRPr lang="en-US" sz="1600" dirty="0"/>
          </a:p>
          <a:p>
            <a:r>
              <a:rPr lang="en-US" sz="1600" dirty="0">
                <a:solidFill>
                  <a:srgbClr val="151515"/>
                </a:solidFill>
              </a:rPr>
              <a:t>Use Pandas groupby() to answer at least 2 business questions.</a:t>
            </a:r>
            <a:endParaRPr lang="en-US" sz="1600" dirty="0"/>
          </a:p>
          <a:p>
            <a:r>
              <a:rPr lang="en-US" sz="1600" dirty="0">
                <a:solidFill>
                  <a:srgbClr val="151515"/>
                </a:solidFill>
              </a:rPr>
              <a:t>Use NumPy for at least 1 numerical summary.</a:t>
            </a:r>
            <a:endParaRPr lang="en-US" sz="1600" dirty="0"/>
          </a:p>
          <a:p>
            <a:r>
              <a:rPr lang="en-US" sz="1600" dirty="0">
                <a:solidFill>
                  <a:srgbClr val="151515"/>
                </a:solidFill>
              </a:rPr>
              <a:t>Create at least 2 meaningful Matplotlib visualisations.</a:t>
            </a:r>
            <a:endParaRPr lang="en-US" sz="1600" dirty="0"/>
          </a:p>
          <a:p>
            <a:r>
              <a:rPr lang="en-US" sz="1600" dirty="0">
                <a:solidFill>
                  <a:srgbClr val="151515"/>
                </a:solidFill>
              </a:rPr>
              <a:t>Prepare 2–3 findings and 1 recommendation.</a:t>
            </a:r>
            <a:endParaRPr lang="en-US" sz="1600" dirty="0"/>
          </a:p>
        </p:txBody>
      </p:sp>
      <p:sp>
        <p:nvSpPr>
          <p:cNvPr id="7" name="Shape 5"/>
          <p:cNvSpPr/>
          <p:nvPr/>
        </p:nvSpPr>
        <p:spPr>
          <a:xfrm>
            <a:off x="7315200" y="1600200"/>
            <a:ext cx="73152" cy="1600200"/>
          </a:xfrm>
          <a:prstGeom prst="rect">
            <a:avLst/>
          </a:prstGeom>
          <a:solidFill>
            <a:srgbClr val="8B0E1A"/>
          </a:solidFill>
          <a:ln w="12700">
            <a:solidFill>
              <a:srgbClr val="8B0E1A"/>
            </a:solidFill>
            <a:prstDash val="solid"/>
          </a:ln>
        </p:spPr>
      </p:sp>
      <p:sp>
        <p:nvSpPr>
          <p:cNvPr id="8" name="Text 6"/>
          <p:cNvSpPr/>
          <p:nvPr/>
        </p:nvSpPr>
        <p:spPr>
          <a:xfrm>
            <a:off x="7434072" y="1600200"/>
            <a:ext cx="3493008" cy="16002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Expected deliverable</a:t>
            </a:r>
            <a:endParaRPr lang="en-US" sz="1220" dirty="0"/>
          </a:p>
          <a:p>
            <a:pPr marL="0" indent="0">
              <a:buNone/>
            </a:pPr>
            <a:r>
              <a:rPr lang="en-US" sz="1220" dirty="0">
                <a:solidFill>
                  <a:srgbClr val="151515"/>
                </a:solidFill>
              </a:rPr>
              <a:t>Problem or pattern</a:t>
            </a:r>
            <a:endParaRPr lang="en-US" sz="1220" dirty="0"/>
          </a:p>
          <a:p>
            <a:pPr marL="0" indent="0">
              <a:buNone/>
            </a:pPr>
            <a:r>
              <a:rPr lang="en-US" sz="1220" dirty="0">
                <a:solidFill>
                  <a:srgbClr val="151515"/>
                </a:solidFill>
              </a:rPr>
              <a:t>+</a:t>
            </a:r>
            <a:endParaRPr lang="en-US" sz="1220" dirty="0"/>
          </a:p>
          <a:p>
            <a:pPr marL="0" indent="0">
              <a:buNone/>
            </a:pPr>
            <a:r>
              <a:rPr lang="en-US" sz="1220" dirty="0">
                <a:solidFill>
                  <a:srgbClr val="151515"/>
                </a:solidFill>
              </a:rPr>
              <a:t>Evidence from data</a:t>
            </a:r>
            <a:endParaRPr lang="en-US" sz="1220" dirty="0"/>
          </a:p>
          <a:p>
            <a:pPr marL="0" indent="0">
              <a:buNone/>
            </a:pPr>
            <a:r>
              <a:rPr lang="en-US" sz="1220" dirty="0">
                <a:solidFill>
                  <a:srgbClr val="151515"/>
                </a:solidFill>
              </a:rPr>
              <a:t>+</a:t>
            </a:r>
            <a:endParaRPr lang="en-US" sz="1220" dirty="0"/>
          </a:p>
          <a:p>
            <a:pPr marL="0" indent="0">
              <a:buNone/>
            </a:pPr>
            <a:r>
              <a:rPr lang="en-US" sz="1220" dirty="0">
                <a:solidFill>
                  <a:srgbClr val="151515"/>
                </a:solidFill>
              </a:rPr>
              <a:t>Recommendation</a:t>
            </a:r>
            <a:endParaRPr lang="en-US" sz="1220" dirty="0"/>
          </a:p>
        </p:txBody>
      </p:sp>
      <p:sp>
        <p:nvSpPr>
          <p:cNvPr id="9" name="Shape 7"/>
          <p:cNvSpPr/>
          <p:nvPr/>
        </p:nvSpPr>
        <p:spPr>
          <a:xfrm>
            <a:off x="7315200" y="3703320"/>
            <a:ext cx="73152" cy="960120"/>
          </a:xfrm>
          <a:prstGeom prst="rect">
            <a:avLst/>
          </a:prstGeom>
          <a:solidFill>
            <a:srgbClr val="A65A00"/>
          </a:solidFill>
          <a:ln w="12700">
            <a:solidFill>
              <a:srgbClr val="A65A00"/>
            </a:solidFill>
            <a:prstDash val="solid"/>
          </a:ln>
        </p:spPr>
      </p:sp>
      <p:sp>
        <p:nvSpPr>
          <p:cNvPr id="10" name="Text 8"/>
          <p:cNvSpPr/>
          <p:nvPr/>
        </p:nvSpPr>
        <p:spPr>
          <a:xfrm>
            <a:off x="7434072" y="3703320"/>
            <a:ext cx="3493008" cy="96012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Your role now</a:t>
            </a:r>
            <a:endParaRPr lang="en-US" sz="1220" dirty="0"/>
          </a:p>
          <a:p>
            <a:pPr marL="0" indent="0">
              <a:buNone/>
            </a:pPr>
            <a:r>
              <a:rPr lang="en-US" sz="1220" dirty="0">
                <a:solidFill>
                  <a:srgbClr val="151515"/>
                </a:solidFill>
              </a:rPr>
              <a:t>Circulate. Ask guiding questions. Do not fix all code for them immediately.</a:t>
            </a:r>
            <a:endParaRPr lang="en-US" sz="12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Capstone Starter Code</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Give this to teams so they can begin quickly.</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234440"/>
            <a:ext cx="10835640" cy="452628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320" dirty="0">
                <a:solidFill>
                  <a:srgbClr val="111111"/>
                </a:solidFill>
                <a:latin typeface="Cascadia Mono" pitchFamily="34" charset="0"/>
                <a:ea typeface="Cascadia Mono" pitchFamily="34" charset="-122"/>
                <a:cs typeface="Cascadia Mono" pitchFamily="34" charset="-120"/>
              </a:rPr>
              <a:t>import pandas as pd</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import numpy as np</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import matplotlib.pyplot as plt</a:t>
            </a:r>
            <a:endParaRPr lang="en-US" sz="1320" dirty="0"/>
          </a:p>
          <a:p>
            <a:pPr marL="0" indent="0">
              <a:buNone/>
            </a:pP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 1. Load your team dataset</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df = pd.read_csv("your_dataset.csv")</a:t>
            </a:r>
            <a:endParaRPr lang="en-US" sz="1320" dirty="0"/>
          </a:p>
          <a:p>
            <a:pPr marL="0" indent="0">
              <a:buNone/>
            </a:pP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 2. Understand the data</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print(df.shape)</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display(df.head())</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print(df.info())</a:t>
            </a:r>
            <a:endParaRPr lang="en-US" sz="1320" dirty="0"/>
          </a:p>
          <a:p>
            <a:pPr marL="0" indent="0">
              <a:buNone/>
            </a:pP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 3. Check quality</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print(df.isnull().sum())</a:t>
            </a:r>
            <a:endParaRPr lang="en-US" sz="1320" dirty="0"/>
          </a:p>
          <a:p>
            <a:pPr marL="0" indent="0">
              <a:buNone/>
            </a:pPr>
            <a:r>
              <a:rPr lang="en-US" sz="1320" dirty="0">
                <a:solidFill>
                  <a:srgbClr val="111111"/>
                </a:solidFill>
                <a:latin typeface="Cascadia Mono" pitchFamily="34" charset="0"/>
                <a:ea typeface="Cascadia Mono" pitchFamily="34" charset="-122"/>
                <a:cs typeface="Cascadia Mono" pitchFamily="34" charset="-120"/>
              </a:rPr>
              <a:t>print(df.duplicated().sum())</a:t>
            </a:r>
            <a:endParaRPr lang="en-US" sz="1320" dirty="0"/>
          </a:p>
        </p:txBody>
      </p:sp>
      <p:sp>
        <p:nvSpPr>
          <p:cNvPr id="7" name="Shape 5"/>
          <p:cNvSpPr/>
          <p:nvPr/>
        </p:nvSpPr>
        <p:spPr>
          <a:xfrm>
            <a:off x="914400" y="5961888"/>
            <a:ext cx="73152" cy="274320"/>
          </a:xfrm>
          <a:prstGeom prst="rect">
            <a:avLst/>
          </a:prstGeom>
          <a:solidFill>
            <a:srgbClr val="8B0E1A"/>
          </a:solidFill>
          <a:ln w="12700">
            <a:solidFill>
              <a:srgbClr val="8B0E1A"/>
            </a:solidFill>
            <a:prstDash val="solid"/>
          </a:ln>
        </p:spPr>
      </p:sp>
      <p:sp>
        <p:nvSpPr>
          <p:cNvPr id="8" name="Text 6"/>
          <p:cNvSpPr/>
          <p:nvPr/>
        </p:nvSpPr>
        <p:spPr>
          <a:xfrm>
            <a:off x="1033272" y="5961888"/>
            <a:ext cx="10030968" cy="274320"/>
          </a:xfrm>
          <a:prstGeom prst="rect">
            <a:avLst/>
          </a:prstGeom>
          <a:solidFill>
            <a:srgbClr val="FAFAFA"/>
          </a:solidFill>
          <a:ln w="10160">
            <a:solidFill>
              <a:srgbClr val="DDDDDD"/>
            </a:solidFill>
          </a:ln>
        </p:spPr>
        <p:txBody>
          <a:bodyPr wrap="square" lIns="1270" tIns="1270" rIns="1270" bIns="1270" rtlCol="0" anchor="ctr">
            <a:normAutofit fontScale="85000" lnSpcReduction="20000"/>
          </a:bodyPr>
          <a:lstStyle/>
          <a:p>
            <a:pPr marL="0" indent="0">
              <a:buNone/>
            </a:pPr>
            <a:r>
              <a:rPr lang="en-US" sz="1220" dirty="0">
                <a:solidFill>
                  <a:srgbClr val="151515"/>
                </a:solidFill>
              </a:rPr>
              <a:t>Instruction</a:t>
            </a:r>
            <a:endParaRPr lang="en-US" sz="1220" dirty="0"/>
          </a:p>
          <a:p>
            <a:pPr marL="0" indent="0">
              <a:buNone/>
            </a:pPr>
            <a:r>
              <a:rPr lang="en-US" sz="1220" dirty="0">
                <a:solidFill>
                  <a:srgbClr val="151515"/>
                </a:solidFill>
              </a:rPr>
              <a:t>Teams should replace your_dataset.csv with their assigned file name.</a:t>
            </a:r>
            <a:endParaRPr lang="en-US" sz="12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Capstone Analysis Template Code</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Students can adapt the column names to match their own dataset.</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685800" y="1234440"/>
            <a:ext cx="10835640" cy="5166360"/>
          </a:xfrm>
          <a:prstGeom prst="rect">
            <a:avLst/>
          </a:prstGeom>
          <a:solidFill>
            <a:srgbClr val="F3F3F3"/>
          </a:solidFill>
          <a:ln w="10160">
            <a:solidFill>
              <a:srgbClr val="D8D8D8"/>
            </a:solidFill>
          </a:ln>
        </p:spPr>
        <p:txBody>
          <a:bodyPr wrap="square" lIns="1397" tIns="1397" rIns="1397" bIns="1397" rtlCol="0" anchor="t">
            <a:normAutofit/>
          </a:bodyPr>
          <a:lstStyle/>
          <a:p>
            <a:pPr marL="0" indent="0">
              <a:buNone/>
            </a:pPr>
            <a:r>
              <a:rPr lang="en-US" sz="1250" dirty="0">
                <a:solidFill>
                  <a:srgbClr val="111111"/>
                </a:solidFill>
                <a:latin typeface="Cascadia Mono" pitchFamily="34" charset="0"/>
                <a:ea typeface="Cascadia Mono" pitchFamily="34" charset="-122"/>
                <a:cs typeface="Cascadia Mono" pitchFamily="34" charset="-120"/>
              </a:rPr>
              <a:t># Example: group analysis</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df.groupby("Category")["Sales"].sum().sort_values(ascending=False)</a:t>
            </a:r>
            <a:endParaRPr lang="en-US" sz="1250" dirty="0"/>
          </a:p>
          <a:p>
            <a:pPr marL="0" indent="0">
              <a:buNone/>
            </a:pP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 Example: numerical summary</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np.mean(df["Sales"])</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np.median(df["Sales"])</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np.std(df["Sales"])</a:t>
            </a:r>
            <a:endParaRPr lang="en-US" sz="1250" dirty="0"/>
          </a:p>
          <a:p>
            <a:pPr marL="0" indent="0">
              <a:buNone/>
            </a:pP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 Example: visualisation</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df.groupby("Category")["Sales"].sum().plot(kind="bar")</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plt.title("Sales by Category")</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plt.xlabel("Category")</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plt.ylabel("Sales")</a:t>
            </a:r>
            <a:endParaRPr lang="en-US" sz="1250" dirty="0"/>
          </a:p>
          <a:p>
            <a:pPr marL="0" indent="0">
              <a:buNone/>
            </a:pPr>
            <a:r>
              <a:rPr lang="en-US" sz="1250" dirty="0">
                <a:solidFill>
                  <a:srgbClr val="111111"/>
                </a:solidFill>
                <a:latin typeface="Cascadia Mono" pitchFamily="34" charset="0"/>
                <a:ea typeface="Cascadia Mono" pitchFamily="34" charset="-122"/>
                <a:cs typeface="Cascadia Mono" pitchFamily="34" charset="-120"/>
              </a:rPr>
              <a:t>plt.show()</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Day 4 Presentation Checklist</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Keep the Day 4 output simple and focused.</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914400" y="1325880"/>
            <a:ext cx="6492240" cy="4114800"/>
          </a:xfrm>
          <a:prstGeom prst="rect">
            <a:avLst/>
          </a:prstGeom>
          <a:noFill/>
          <a:ln/>
        </p:spPr>
        <p:txBody>
          <a:bodyPr wrap="square" lIns="762" tIns="762" rIns="762" bIns="762" rtlCol="0" anchor="ctr">
            <a:normAutofit/>
          </a:bodyPr>
          <a:lstStyle/>
          <a:p>
            <a:r>
              <a:rPr lang="en-US" sz="1650" dirty="0">
                <a:solidFill>
                  <a:srgbClr val="151515"/>
                </a:solidFill>
              </a:rPr>
              <a:t>Dataset introduction: What is this data about?</a:t>
            </a:r>
            <a:endParaRPr lang="en-US" sz="1650" dirty="0"/>
          </a:p>
          <a:p>
            <a:r>
              <a:rPr lang="en-US" sz="1650" dirty="0">
                <a:solidFill>
                  <a:srgbClr val="151515"/>
                </a:solidFill>
              </a:rPr>
              <a:t>Business question: What problem or opportunity are you investigating?</a:t>
            </a:r>
            <a:endParaRPr lang="en-US" sz="1650" dirty="0"/>
          </a:p>
          <a:p>
            <a:r>
              <a:rPr lang="en-US" sz="1650" dirty="0">
                <a:solidFill>
                  <a:srgbClr val="151515"/>
                </a:solidFill>
              </a:rPr>
              <a:t>Cleaning summary: What issues did you find and fix?</a:t>
            </a:r>
            <a:endParaRPr lang="en-US" sz="1650" dirty="0"/>
          </a:p>
          <a:p>
            <a:r>
              <a:rPr lang="en-US" sz="1650" dirty="0">
                <a:solidFill>
                  <a:srgbClr val="151515"/>
                </a:solidFill>
              </a:rPr>
              <a:t>Key findings: 2–3 points supported by code output or charts.</a:t>
            </a:r>
            <a:endParaRPr lang="en-US" sz="1650" dirty="0"/>
          </a:p>
          <a:p>
            <a:r>
              <a:rPr lang="en-US" sz="1650" dirty="0">
                <a:solidFill>
                  <a:srgbClr val="151515"/>
                </a:solidFill>
              </a:rPr>
              <a:t>Recommendation: What should the business do next?</a:t>
            </a:r>
            <a:endParaRPr lang="en-US" sz="1650" dirty="0"/>
          </a:p>
          <a:p>
            <a:r>
              <a:rPr lang="en-US" sz="1650" dirty="0">
                <a:solidFill>
                  <a:srgbClr val="151515"/>
                </a:solidFill>
              </a:rPr>
              <a:t>Presentation length: 3–5 minutes per team.</a:t>
            </a:r>
            <a:endParaRPr lang="en-US" sz="1650" dirty="0"/>
          </a:p>
        </p:txBody>
      </p:sp>
      <p:sp>
        <p:nvSpPr>
          <p:cNvPr id="7" name="Shape 5"/>
          <p:cNvSpPr/>
          <p:nvPr/>
        </p:nvSpPr>
        <p:spPr>
          <a:xfrm>
            <a:off x="7726680" y="1828800"/>
            <a:ext cx="73152" cy="1828800"/>
          </a:xfrm>
          <a:prstGeom prst="rect">
            <a:avLst/>
          </a:prstGeom>
          <a:solidFill>
            <a:srgbClr val="8B0E1A"/>
          </a:solidFill>
          <a:ln w="12700">
            <a:solidFill>
              <a:srgbClr val="8B0E1A"/>
            </a:solidFill>
            <a:prstDash val="solid"/>
          </a:ln>
        </p:spPr>
      </p:sp>
      <p:sp>
        <p:nvSpPr>
          <p:cNvPr id="8" name="Text 6"/>
          <p:cNvSpPr/>
          <p:nvPr/>
        </p:nvSpPr>
        <p:spPr>
          <a:xfrm>
            <a:off x="7845552" y="1828800"/>
            <a:ext cx="3127248" cy="182880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Final message to students</a:t>
            </a:r>
            <a:endParaRPr lang="en-US" sz="1220" dirty="0"/>
          </a:p>
          <a:p>
            <a:pPr marL="0" indent="0">
              <a:buNone/>
            </a:pPr>
            <a:r>
              <a:rPr lang="en-US" sz="1220" dirty="0">
                <a:solidFill>
                  <a:srgbClr val="151515"/>
                </a:solidFill>
              </a:rPr>
              <a:t>“Your goal is not to show every code cell. Your goal is to explain what the data tells us and what action the business should take.”</a:t>
            </a:r>
            <a:endParaRPr lang="en-US" sz="1220" dirty="0"/>
          </a:p>
        </p:txBody>
      </p:sp>
      <p:sp>
        <p:nvSpPr>
          <p:cNvPr id="9" name="Text 7"/>
          <p:cNvSpPr/>
          <p:nvPr/>
        </p:nvSpPr>
        <p:spPr>
          <a:xfrm>
            <a:off x="914400" y="5623560"/>
            <a:ext cx="10149840" cy="594360"/>
          </a:xfrm>
          <a:prstGeom prst="rect">
            <a:avLst/>
          </a:prstGeom>
          <a:solidFill>
            <a:srgbClr val="F7F3F3"/>
          </a:solidFill>
          <a:ln>
            <a:solidFill>
              <a:srgbClr val="E3D6D6"/>
            </a:solidFill>
          </a:ln>
        </p:spPr>
        <p:txBody>
          <a:bodyPr wrap="square" lIns="1270" tIns="1270" rIns="1270" bIns="1270" rtlCol="0" anchor="ctr">
            <a:normAutofit/>
          </a:bodyPr>
          <a:lstStyle/>
          <a:p>
            <a:pPr marL="0" indent="0" algn="ctr">
              <a:buNone/>
            </a:pPr>
            <a:r>
              <a:rPr lang="en-US" sz="1600" b="1" dirty="0">
                <a:solidFill>
                  <a:srgbClr val="151515"/>
                </a:solidFill>
              </a:rPr>
              <a:t>Finding   →   Evidence   →   Recommendation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438912"/>
          </a:xfrm>
          <a:prstGeom prst="rect">
            <a:avLst/>
          </a:prstGeom>
          <a:noFill/>
          <a:ln/>
        </p:spPr>
        <p:txBody>
          <a:bodyPr wrap="square" lIns="0" tIns="0" rIns="0" bIns="0" rtlCol="0" anchor="ctr"/>
          <a:lstStyle/>
          <a:p>
            <a:pPr marL="0" indent="0">
              <a:buNone/>
            </a:pPr>
            <a:r>
              <a:rPr lang="en-US" sz="2700" b="1" dirty="0">
                <a:solidFill>
                  <a:srgbClr val="151515"/>
                </a:solidFill>
                <a:latin typeface="Aptos Display" pitchFamily="34" charset="0"/>
                <a:ea typeface="Aptos Display" pitchFamily="34" charset="-122"/>
                <a:cs typeface="Aptos Display" pitchFamily="34" charset="-120"/>
              </a:rPr>
              <a:t>Wrap-up Questions</a:t>
            </a:r>
            <a:endParaRPr lang="en-US" sz="2700" dirty="0"/>
          </a:p>
        </p:txBody>
      </p:sp>
      <p:sp>
        <p:nvSpPr>
          <p:cNvPr id="3" name="Shape 1"/>
          <p:cNvSpPr/>
          <p:nvPr/>
        </p:nvSpPr>
        <p:spPr>
          <a:xfrm>
            <a:off x="502920" y="822960"/>
            <a:ext cx="960120" cy="50292"/>
          </a:xfrm>
          <a:prstGeom prst="rect">
            <a:avLst/>
          </a:prstGeom>
          <a:solidFill>
            <a:srgbClr val="8B0E1A"/>
          </a:solidFill>
          <a:ln w="12700">
            <a:solidFill>
              <a:srgbClr val="8B0E1A"/>
            </a:solidFill>
            <a:prstDash val="solid"/>
          </a:ln>
        </p:spPr>
      </p:sp>
      <p:sp>
        <p:nvSpPr>
          <p:cNvPr id="4" name="Text 2"/>
          <p:cNvSpPr/>
          <p:nvPr/>
        </p:nvSpPr>
        <p:spPr>
          <a:xfrm>
            <a:off x="502920" y="932688"/>
            <a:ext cx="11064240" cy="274320"/>
          </a:xfrm>
          <a:prstGeom prst="rect">
            <a:avLst/>
          </a:prstGeom>
          <a:noFill/>
          <a:ln/>
        </p:spPr>
        <p:txBody>
          <a:bodyPr wrap="square" lIns="0" tIns="0" rIns="0" bIns="0" rtlCol="0" anchor="ctr"/>
          <a:lstStyle/>
          <a:p>
            <a:pPr marL="0" indent="0">
              <a:buNone/>
            </a:pPr>
            <a:r>
              <a:rPr lang="en-US" sz="1150" dirty="0">
                <a:solidFill>
                  <a:srgbClr val="555555"/>
                </a:solidFill>
              </a:rPr>
              <a:t>Use these in the last 10 minutes.</a:t>
            </a:r>
            <a:endParaRPr lang="en-US" sz="1150" dirty="0"/>
          </a:p>
        </p:txBody>
      </p:sp>
      <p:sp>
        <p:nvSpPr>
          <p:cNvPr id="5" name="Text 3"/>
          <p:cNvSpPr/>
          <p:nvPr/>
        </p:nvSpPr>
        <p:spPr>
          <a:xfrm>
            <a:off x="8321040" y="6446520"/>
            <a:ext cx="3383280" cy="182880"/>
          </a:xfrm>
          <a:prstGeom prst="rect">
            <a:avLst/>
          </a:prstGeom>
          <a:noFill/>
          <a:ln/>
        </p:spPr>
        <p:txBody>
          <a:bodyPr wrap="square" lIns="0" tIns="0" rIns="0" bIns="0" rtlCol="0" anchor="ctr"/>
          <a:lstStyle/>
          <a:p>
            <a:pPr marL="0" indent="0" algn="r">
              <a:buNone/>
            </a:pPr>
            <a:r>
              <a:rPr lang="en-US" sz="850" dirty="0">
                <a:solidFill>
                  <a:srgbClr val="777777"/>
                </a:solidFill>
              </a:rPr>
              <a:t>TensorOrbit EDA Bootcamp  •  Day 3</a:t>
            </a:r>
            <a:endParaRPr lang="en-US" sz="850" dirty="0"/>
          </a:p>
        </p:txBody>
      </p:sp>
      <p:sp>
        <p:nvSpPr>
          <p:cNvPr id="6" name="Text 4"/>
          <p:cNvSpPr/>
          <p:nvPr/>
        </p:nvSpPr>
        <p:spPr>
          <a:xfrm>
            <a:off x="1143000" y="1463040"/>
            <a:ext cx="6035040" cy="3657600"/>
          </a:xfrm>
          <a:prstGeom prst="rect">
            <a:avLst/>
          </a:prstGeom>
          <a:noFill/>
          <a:ln/>
        </p:spPr>
        <p:txBody>
          <a:bodyPr wrap="square" lIns="762" tIns="762" rIns="762" bIns="762" rtlCol="0" anchor="ctr">
            <a:normAutofit/>
          </a:bodyPr>
          <a:lstStyle/>
          <a:p>
            <a:r>
              <a:rPr lang="en-US" sz="2000" dirty="0">
                <a:solidFill>
                  <a:srgbClr val="151515"/>
                </a:solidFill>
              </a:rPr>
              <a:t>What is one interesting pattern your team found?</a:t>
            </a:r>
            <a:endParaRPr lang="en-US" sz="2000" dirty="0"/>
          </a:p>
          <a:p>
            <a:r>
              <a:rPr lang="en-US" sz="2000" dirty="0">
                <a:solidFill>
                  <a:srgbClr val="151515"/>
                </a:solidFill>
              </a:rPr>
              <a:t>Which column seems most important for your analysis?</a:t>
            </a:r>
            <a:endParaRPr lang="en-US" sz="2000" dirty="0"/>
          </a:p>
          <a:p>
            <a:r>
              <a:rPr lang="en-US" sz="2000" dirty="0">
                <a:solidFill>
                  <a:srgbClr val="151515"/>
                </a:solidFill>
              </a:rPr>
              <a:t>Which chart will best support your finding?</a:t>
            </a:r>
            <a:endParaRPr lang="en-US" sz="2000" dirty="0"/>
          </a:p>
          <a:p>
            <a:r>
              <a:rPr lang="en-US" sz="2000" dirty="0">
                <a:solidFill>
                  <a:srgbClr val="151515"/>
                </a:solidFill>
              </a:rPr>
              <a:t>What is one possible recommendation from your data?</a:t>
            </a:r>
            <a:endParaRPr lang="en-US" sz="2000" dirty="0"/>
          </a:p>
          <a:p>
            <a:r>
              <a:rPr lang="en-US" sz="2000" dirty="0">
                <a:solidFill>
                  <a:srgbClr val="151515"/>
                </a:solidFill>
              </a:rPr>
              <a:t>What help do you need before Day 4?</a:t>
            </a:r>
            <a:endParaRPr lang="en-US" sz="2000" dirty="0"/>
          </a:p>
        </p:txBody>
      </p:sp>
      <p:sp>
        <p:nvSpPr>
          <p:cNvPr id="7" name="Shape 5"/>
          <p:cNvSpPr/>
          <p:nvPr/>
        </p:nvSpPr>
        <p:spPr>
          <a:xfrm>
            <a:off x="7498080" y="2011680"/>
            <a:ext cx="73152" cy="1280160"/>
          </a:xfrm>
          <a:prstGeom prst="rect">
            <a:avLst/>
          </a:prstGeom>
          <a:solidFill>
            <a:srgbClr val="8B0E1A"/>
          </a:solidFill>
          <a:ln w="12700">
            <a:solidFill>
              <a:srgbClr val="8B0E1A"/>
            </a:solidFill>
            <a:prstDash val="solid"/>
          </a:ln>
        </p:spPr>
      </p:sp>
      <p:sp>
        <p:nvSpPr>
          <p:cNvPr id="8" name="Text 6"/>
          <p:cNvSpPr/>
          <p:nvPr/>
        </p:nvSpPr>
        <p:spPr>
          <a:xfrm>
            <a:off x="7616952" y="2011680"/>
            <a:ext cx="3538728" cy="1280160"/>
          </a:xfrm>
          <a:prstGeom prst="rect">
            <a:avLst/>
          </a:prstGeom>
          <a:solidFill>
            <a:srgbClr val="FAFAFA"/>
          </a:solidFill>
          <a:ln w="10160">
            <a:solidFill>
              <a:srgbClr val="DDDDDD"/>
            </a:solidFill>
          </a:ln>
        </p:spPr>
        <p:txBody>
          <a:bodyPr wrap="square" lIns="1270" tIns="1270" rIns="1270" bIns="1270" rtlCol="0" anchor="ctr">
            <a:normAutofit/>
          </a:bodyPr>
          <a:lstStyle/>
          <a:p>
            <a:pPr marL="0" indent="0">
              <a:buNone/>
            </a:pPr>
            <a:r>
              <a:rPr lang="en-US" sz="1220" dirty="0">
                <a:solidFill>
                  <a:srgbClr val="151515"/>
                </a:solidFill>
              </a:rPr>
              <a:t>Close the session</a:t>
            </a:r>
            <a:endParaRPr lang="en-US" sz="1220" dirty="0"/>
          </a:p>
          <a:p>
            <a:pPr marL="0" indent="0">
              <a:buNone/>
            </a:pPr>
            <a:r>
              <a:rPr lang="en-US" sz="1220" dirty="0">
                <a:solidFill>
                  <a:srgbClr val="151515"/>
                </a:solidFill>
              </a:rPr>
              <a:t>“Next session, you will finish your analysis and present your findings and recommendation.”</a:t>
            </a:r>
            <a:endParaRPr lang="en-US" sz="1220" dirty="0"/>
          </a:p>
        </p:txBody>
      </p:sp>
      <p:sp>
        <p:nvSpPr>
          <p:cNvPr id="9" name="Text 7"/>
          <p:cNvSpPr/>
          <p:nvPr/>
        </p:nvSpPr>
        <p:spPr>
          <a:xfrm>
            <a:off x="2287325" y="4352544"/>
            <a:ext cx="6377354" cy="2084832"/>
          </a:xfrm>
          <a:prstGeom prst="rect">
            <a:avLst/>
          </a:prstGeom>
          <a:noFill/>
          <a:ln/>
        </p:spPr>
        <p:txBody>
          <a:bodyPr wrap="square" lIns="0" tIns="0" rIns="0" bIns="0" rtlCol="0" anchor="ctr"/>
          <a:lstStyle/>
          <a:p>
            <a:pPr marL="0" indent="0" algn="ctr">
              <a:buNone/>
            </a:pPr>
            <a:r>
              <a:rPr lang="en-US" sz="5400" b="1" dirty="0">
                <a:solidFill>
                  <a:srgbClr val="151515"/>
                </a:solidFill>
              </a:rPr>
              <a:t>Thank you</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3874</Words>
  <Application>Microsoft Office PowerPoint</Application>
  <PresentationFormat>Widescreen</PresentationFormat>
  <Paragraphs>559</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Cascadia Mono</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TensorOrbit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Applied EDA &amp; Capstone Kickoff</dc:title>
  <dc:subject>TensorOrbit EDA Bootcamp Day 3</dc:subject>
  <dc:creator>OpenAI</dc:creator>
  <cp:lastModifiedBy>THOMAS STEVEN</cp:lastModifiedBy>
  <cp:revision>28</cp:revision>
  <dcterms:created xsi:type="dcterms:W3CDTF">2026-08-19T14:41:15Z</dcterms:created>
  <dcterms:modified xsi:type="dcterms:W3CDTF">2026-08-19T17:04:08Z</dcterms:modified>
</cp:coreProperties>
</file>